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0"/>
  </p:notesMasterIdLst>
  <p:sldIdLst>
    <p:sldId id="256" r:id="rId2"/>
    <p:sldId id="257" r:id="rId3"/>
    <p:sldId id="258" r:id="rId4"/>
    <p:sldId id="259" r:id="rId5"/>
    <p:sldId id="275" r:id="rId6"/>
    <p:sldId id="262" r:id="rId7"/>
    <p:sldId id="263" r:id="rId8"/>
    <p:sldId id="264" r:id="rId9"/>
    <p:sldId id="265" r:id="rId10"/>
    <p:sldId id="266" r:id="rId11"/>
    <p:sldId id="268" r:id="rId12"/>
    <p:sldId id="267" r:id="rId13"/>
    <p:sldId id="269" r:id="rId14"/>
    <p:sldId id="270" r:id="rId15"/>
    <p:sldId id="271" r:id="rId16"/>
    <p:sldId id="272" r:id="rId17"/>
    <p:sldId id="273" r:id="rId18"/>
    <p:sldId id="274" r:id="rId19"/>
    <p:sldId id="276" r:id="rId20"/>
    <p:sldId id="277" r:id="rId21"/>
    <p:sldId id="287" r:id="rId22"/>
    <p:sldId id="288" r:id="rId23"/>
    <p:sldId id="289" r:id="rId24"/>
    <p:sldId id="290" r:id="rId25"/>
    <p:sldId id="291" r:id="rId26"/>
    <p:sldId id="292" r:id="rId27"/>
    <p:sldId id="294" r:id="rId28"/>
    <p:sldId id="29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3" d="100"/>
          <a:sy n="103" d="100"/>
        </p:scale>
        <p:origin x="-20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A00DD5-1F0F-4B1D-A544-9BC50011FF60}" type="datetimeFigureOut">
              <a:rPr lang="en-IN" smtClean="0"/>
              <a:pPr/>
              <a:t>2/12/2019</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10AA6C-D3D9-4F3F-937D-0D82B4E8801A}" type="slidenum">
              <a:rPr lang="en-IN" smtClean="0"/>
              <a:pPr/>
              <a:t>‹#›</a:t>
            </a:fld>
            <a:endParaRPr lang="en-IN"/>
          </a:p>
        </p:txBody>
      </p:sp>
    </p:spTree>
    <p:extLst>
      <p:ext uri="{BB962C8B-B14F-4D97-AF65-F5344CB8AC3E}">
        <p14:creationId xmlns:p14="http://schemas.microsoft.com/office/powerpoint/2010/main" xmlns="" val="1360561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E10AA6C-D3D9-4F3F-937D-0D82B4E8801A}" type="slidenum">
              <a:rPr lang="en-IN" smtClean="0"/>
              <a:pPr/>
              <a:t>4</a:t>
            </a:fld>
            <a:endParaRPr lang="en-IN"/>
          </a:p>
        </p:txBody>
      </p:sp>
    </p:spTree>
    <p:extLst>
      <p:ext uri="{BB962C8B-B14F-4D97-AF65-F5344CB8AC3E}">
        <p14:creationId xmlns:p14="http://schemas.microsoft.com/office/powerpoint/2010/main" xmlns="" val="1742334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2/12/2019</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2/12/2019</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2/12/2019</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2/12/2019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2/12/2019</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2/12/2019</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2/12/2019</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2/12/2019</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wdcb.ru/stp/solar/solar_activity.html" TargetMode="External"/><Relationship Id="rId2" Type="http://schemas.openxmlformats.org/officeDocument/2006/relationships/hyperlink" Target="http://www.sidc.be/silso/" TargetMode="External"/><Relationship Id="rId1" Type="http://schemas.openxmlformats.org/officeDocument/2006/relationships/slideLayout" Target="../slideLayouts/slideLayout2.xml"/><Relationship Id="rId4" Type="http://schemas.openxmlformats.org/officeDocument/2006/relationships/hyperlink" Target="http://lasp.colorado.edu/lisird/data/historical_tsi/"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609600"/>
            <a:ext cx="7696200" cy="1752600"/>
          </a:xfrm>
        </p:spPr>
        <p:txBody>
          <a:bodyPr>
            <a:normAutofit fontScale="90000"/>
          </a:bodyPr>
          <a:lstStyle/>
          <a:p>
            <a:pPr algn="just"/>
            <a:r>
              <a:rPr lang="en-US" sz="3200" dirty="0" smtClean="0"/>
              <a:t>Forecasting Solar Activity for Solar Cycles 25 &amp; 26 􀂱􀀃an indication for future solar</a:t>
            </a:r>
            <a:br>
              <a:rPr lang="en-US" sz="3200" dirty="0" smtClean="0"/>
            </a:br>
            <a:r>
              <a:rPr lang="en-US" sz="3200" dirty="0" smtClean="0"/>
              <a:t>minimum</a:t>
            </a:r>
            <a:br>
              <a:rPr lang="en-US" sz="3200" dirty="0" smtClean="0"/>
            </a:br>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sz="3600" dirty="0" smtClean="0">
                <a:solidFill>
                  <a:schemeClr val="accent1">
                    <a:lumMod val="75000"/>
                  </a:schemeClr>
                </a:solidFill>
                <a:latin typeface="Times New Roman" pitchFamily="18" charset="0"/>
                <a:cs typeface="Times New Roman" pitchFamily="18" charset="0"/>
              </a:rPr>
              <a:t>Forecasting Solar Activity for Solar Cycles 25 &amp; 26 - an indication for future solar minimum</a:t>
            </a:r>
            <a:endParaRPr lang="en-IN" sz="3600" dirty="0">
              <a:solidFill>
                <a:schemeClr val="tx1"/>
              </a:solidFill>
              <a:latin typeface="Times New Roman" pitchFamily="18" charset="0"/>
              <a:cs typeface="Times New Roman" pitchFamily="18" charset="0"/>
            </a:endParaRPr>
          </a:p>
        </p:txBody>
      </p:sp>
      <p:sp>
        <p:nvSpPr>
          <p:cNvPr id="3" name="Subtitle 2"/>
          <p:cNvSpPr>
            <a:spLocks noGrp="1"/>
          </p:cNvSpPr>
          <p:nvPr>
            <p:ph type="subTitle" idx="1"/>
          </p:nvPr>
        </p:nvSpPr>
        <p:spPr>
          <a:xfrm>
            <a:off x="2667000" y="3429000"/>
            <a:ext cx="6172200" cy="1905000"/>
          </a:xfrm>
        </p:spPr>
        <p:txBody>
          <a:bodyPr>
            <a:normAutofit/>
          </a:bodyPr>
          <a:lstStyle/>
          <a:p>
            <a:pPr algn="ctr"/>
            <a:r>
              <a:rPr lang="en-IN" sz="2400" dirty="0" smtClean="0">
                <a:solidFill>
                  <a:schemeClr val="accent1">
                    <a:lumMod val="75000"/>
                  </a:schemeClr>
                </a:solidFill>
                <a:latin typeface="Times New Roman" pitchFamily="18" charset="0"/>
                <a:cs typeface="Times New Roman" pitchFamily="18" charset="0"/>
              </a:rPr>
              <a:t>Ashok K. Singh </a:t>
            </a:r>
            <a:r>
              <a:rPr lang="en-IN" sz="2000" dirty="0" smtClean="0">
                <a:solidFill>
                  <a:srgbClr val="002060"/>
                </a:solidFill>
                <a:latin typeface="Times New Roman" pitchFamily="18" charset="0"/>
                <a:cs typeface="Times New Roman" pitchFamily="18" charset="0"/>
              </a:rPr>
              <a:t>and </a:t>
            </a:r>
            <a:r>
              <a:rPr lang="en-IN" sz="2000" dirty="0" err="1" smtClean="0">
                <a:solidFill>
                  <a:srgbClr val="002060"/>
                </a:solidFill>
                <a:latin typeface="Times New Roman" pitchFamily="18" charset="0"/>
                <a:cs typeface="Times New Roman" pitchFamily="18" charset="0"/>
              </a:rPr>
              <a:t>Asheesh</a:t>
            </a:r>
            <a:r>
              <a:rPr lang="en-IN" sz="2000" dirty="0" smtClean="0">
                <a:solidFill>
                  <a:srgbClr val="002060"/>
                </a:solidFill>
                <a:latin typeface="Times New Roman" pitchFamily="18" charset="0"/>
                <a:cs typeface="Times New Roman" pitchFamily="18" charset="0"/>
              </a:rPr>
              <a:t> </a:t>
            </a:r>
            <a:r>
              <a:rPr lang="en-IN" sz="2000" dirty="0" err="1" smtClean="0">
                <a:solidFill>
                  <a:srgbClr val="002060"/>
                </a:solidFill>
                <a:latin typeface="Times New Roman" pitchFamily="18" charset="0"/>
                <a:cs typeface="Times New Roman" pitchFamily="18" charset="0"/>
              </a:rPr>
              <a:t>Bhargawa</a:t>
            </a:r>
            <a:endParaRPr lang="en-IN" sz="2000" dirty="0" smtClean="0">
              <a:solidFill>
                <a:srgbClr val="002060"/>
              </a:solidFill>
              <a:latin typeface="Times New Roman" pitchFamily="18" charset="0"/>
              <a:cs typeface="Times New Roman" pitchFamily="18" charset="0"/>
            </a:endParaRPr>
          </a:p>
          <a:p>
            <a:pPr algn="ctr"/>
            <a:r>
              <a:rPr lang="en-IN" dirty="0" smtClean="0">
                <a:solidFill>
                  <a:srgbClr val="002060"/>
                </a:solidFill>
                <a:latin typeface="Times New Roman" pitchFamily="18" charset="0"/>
                <a:cs typeface="Times New Roman" pitchFamily="18" charset="0"/>
              </a:rPr>
              <a:t>Department of Physics, University of </a:t>
            </a:r>
            <a:r>
              <a:rPr lang="en-IN" dirty="0" err="1" smtClean="0">
                <a:solidFill>
                  <a:srgbClr val="002060"/>
                </a:solidFill>
                <a:latin typeface="Times New Roman" pitchFamily="18" charset="0"/>
                <a:cs typeface="Times New Roman" pitchFamily="18" charset="0"/>
              </a:rPr>
              <a:t>Lucknow</a:t>
            </a:r>
            <a:r>
              <a:rPr lang="en-IN" dirty="0" smtClean="0">
                <a:solidFill>
                  <a:srgbClr val="002060"/>
                </a:solidFill>
                <a:latin typeface="Times New Roman" pitchFamily="18" charset="0"/>
                <a:cs typeface="Times New Roman" pitchFamily="18" charset="0"/>
              </a:rPr>
              <a:t>, </a:t>
            </a:r>
            <a:r>
              <a:rPr lang="en-IN" dirty="0" err="1" smtClean="0">
                <a:solidFill>
                  <a:srgbClr val="002060"/>
                </a:solidFill>
                <a:latin typeface="Times New Roman" pitchFamily="18" charset="0"/>
                <a:cs typeface="Times New Roman" pitchFamily="18" charset="0"/>
              </a:rPr>
              <a:t>Lucknow</a:t>
            </a:r>
            <a:r>
              <a:rPr lang="en-IN" dirty="0" smtClean="0">
                <a:solidFill>
                  <a:srgbClr val="002060"/>
                </a:solidFill>
                <a:latin typeface="Times New Roman" pitchFamily="18" charset="0"/>
                <a:cs typeface="Times New Roman" pitchFamily="18" charset="0"/>
              </a:rPr>
              <a:t> – 226007 (U.P.)</a:t>
            </a:r>
          </a:p>
          <a:p>
            <a:pPr algn="ctr"/>
            <a:r>
              <a:rPr lang="en-IN" dirty="0" smtClean="0">
                <a:solidFill>
                  <a:srgbClr val="002060"/>
                </a:solidFill>
                <a:latin typeface="Times New Roman" pitchFamily="18" charset="0"/>
                <a:cs typeface="Times New Roman" pitchFamily="18" charset="0"/>
              </a:rPr>
              <a:t>Email: aksphys@gmail.com</a:t>
            </a:r>
            <a:endParaRPr lang="en-IN"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7460265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685800"/>
          </a:xfrm>
        </p:spPr>
        <p:txBody>
          <a:bodyPr>
            <a:normAutofit/>
          </a:bodyPr>
          <a:lstStyle/>
          <a:p>
            <a:pPr algn="ctr"/>
            <a:r>
              <a:rPr lang="en-IN" sz="3600" b="1" dirty="0" smtClean="0">
                <a:solidFill>
                  <a:schemeClr val="tx1"/>
                </a:solidFill>
              </a:rPr>
              <a:t>OUTLINE</a:t>
            </a:r>
            <a:endParaRPr lang="en-IN" sz="3600" dirty="0">
              <a:solidFill>
                <a:schemeClr val="tx1"/>
              </a:solidFill>
            </a:endParaRPr>
          </a:p>
        </p:txBody>
      </p:sp>
      <p:sp>
        <p:nvSpPr>
          <p:cNvPr id="3" name="Content Placeholder 2"/>
          <p:cNvSpPr>
            <a:spLocks noGrp="1"/>
          </p:cNvSpPr>
          <p:nvPr>
            <p:ph sz="quarter" idx="1"/>
          </p:nvPr>
        </p:nvSpPr>
        <p:spPr>
          <a:xfrm>
            <a:off x="457200" y="1600200"/>
            <a:ext cx="7467600" cy="4873752"/>
          </a:xfrm>
        </p:spPr>
        <p:txBody>
          <a:bodyPr>
            <a:normAutofit/>
          </a:bodyPr>
          <a:lstStyle/>
          <a:p>
            <a:pPr>
              <a:buFont typeface="Wingdings" pitchFamily="2" charset="2"/>
              <a:buChar char="v"/>
            </a:pPr>
            <a:r>
              <a:rPr lang="en-US" sz="2000" dirty="0" smtClean="0"/>
              <a:t>Introduction</a:t>
            </a:r>
          </a:p>
          <a:p>
            <a:pPr>
              <a:buFont typeface="Wingdings" pitchFamily="2" charset="2"/>
              <a:buChar char="v"/>
            </a:pPr>
            <a:r>
              <a:rPr lang="en-US" sz="2000" dirty="0" smtClean="0"/>
              <a:t>Significance </a:t>
            </a:r>
            <a:r>
              <a:rPr lang="en-US" sz="2000" dirty="0"/>
              <a:t>of the Solar Cycle</a:t>
            </a:r>
          </a:p>
          <a:p>
            <a:pPr>
              <a:buFont typeface="Wingdings" pitchFamily="2" charset="2"/>
              <a:buChar char="v"/>
            </a:pPr>
            <a:r>
              <a:rPr lang="en-US" sz="2000" dirty="0" smtClean="0"/>
              <a:t>Why we predict solar activity</a:t>
            </a:r>
            <a:endParaRPr lang="en-US" sz="2000" dirty="0"/>
          </a:p>
          <a:p>
            <a:pPr>
              <a:buFont typeface="Wingdings" pitchFamily="2" charset="2"/>
              <a:buChar char="v"/>
            </a:pPr>
            <a:r>
              <a:rPr lang="en-US" sz="2000" dirty="0"/>
              <a:t>Predictions for Solar Cycle </a:t>
            </a:r>
            <a:r>
              <a:rPr lang="en-US" sz="2000" dirty="0" smtClean="0"/>
              <a:t>25 and 26</a:t>
            </a:r>
          </a:p>
          <a:p>
            <a:pPr>
              <a:buFont typeface="Wingdings" pitchFamily="2" charset="2"/>
              <a:buChar char="v"/>
            </a:pPr>
            <a:r>
              <a:rPr lang="en-IN" sz="2000" dirty="0"/>
              <a:t>Methodology and data </a:t>
            </a:r>
            <a:r>
              <a:rPr lang="en-IN" sz="2000" dirty="0" smtClean="0"/>
              <a:t>analysis</a:t>
            </a:r>
          </a:p>
          <a:p>
            <a:pPr>
              <a:buFont typeface="Wingdings" pitchFamily="2" charset="2"/>
              <a:buChar char="v"/>
            </a:pPr>
            <a:r>
              <a:rPr lang="en-IN" sz="2000" dirty="0"/>
              <a:t>Results and discussion</a:t>
            </a:r>
            <a:endParaRPr lang="en-US" sz="2000" dirty="0"/>
          </a:p>
          <a:p>
            <a:pPr>
              <a:buFont typeface="Wingdings" pitchFamily="2" charset="2"/>
              <a:buChar char="v"/>
            </a:pPr>
            <a:r>
              <a:rPr lang="en-IN" sz="2000" dirty="0"/>
              <a:t>Conclusions</a:t>
            </a:r>
          </a:p>
          <a:p>
            <a:endParaRPr lang="en-IN" sz="2000" dirty="0"/>
          </a:p>
        </p:txBody>
      </p:sp>
    </p:spTree>
    <p:extLst>
      <p:ext uri="{BB962C8B-B14F-4D97-AF65-F5344CB8AC3E}">
        <p14:creationId xmlns:p14="http://schemas.microsoft.com/office/powerpoint/2010/main" xmlns="" val="8484681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3840162"/>
          </a:xfrm>
        </p:spPr>
        <p:txBody>
          <a:bodyPr>
            <a:noAutofit/>
          </a:bodyPr>
          <a:lstStyle/>
          <a:p>
            <a:pPr algn="ctr"/>
            <a:r>
              <a:rPr lang="en-US" sz="4400" b="1" dirty="0" smtClean="0">
                <a:solidFill>
                  <a:schemeClr val="accent1">
                    <a:lumMod val="75000"/>
                  </a:schemeClr>
                </a:solidFill>
              </a:rPr>
              <a:t>Significance of the solar cycle</a:t>
            </a:r>
            <a:endParaRPr lang="en-IN" sz="4400" dirty="0">
              <a:solidFill>
                <a:schemeClr val="accent1">
                  <a:lumMod val="75000"/>
                </a:schemeClr>
              </a:solidFill>
            </a:endParaRPr>
          </a:p>
        </p:txBody>
      </p:sp>
    </p:spTree>
    <p:extLst>
      <p:ext uri="{BB962C8B-B14F-4D97-AF65-F5344CB8AC3E}">
        <p14:creationId xmlns:p14="http://schemas.microsoft.com/office/powerpoint/2010/main" xmlns="" val="21349137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01000" cy="685800"/>
          </a:xfrm>
        </p:spPr>
        <p:txBody>
          <a:bodyPr>
            <a:normAutofit/>
          </a:bodyPr>
          <a:lstStyle/>
          <a:p>
            <a:pPr algn="ctr"/>
            <a:r>
              <a:rPr lang="en-US" sz="3200" b="1" dirty="0">
                <a:solidFill>
                  <a:schemeClr val="accent1">
                    <a:lumMod val="75000"/>
                  </a:schemeClr>
                </a:solidFill>
                <a:latin typeface="Times New Roman" pitchFamily="18" charset="0"/>
                <a:cs typeface="Times New Roman" pitchFamily="18" charset="0"/>
              </a:rPr>
              <a:t>Solar </a:t>
            </a:r>
            <a:r>
              <a:rPr lang="en-US" sz="3200" b="1" dirty="0" smtClean="0">
                <a:solidFill>
                  <a:schemeClr val="accent1">
                    <a:lumMod val="75000"/>
                  </a:schemeClr>
                </a:solidFill>
                <a:latin typeface="Times New Roman" pitchFamily="18" charset="0"/>
                <a:cs typeface="Times New Roman" pitchFamily="18" charset="0"/>
              </a:rPr>
              <a:t>Activity</a:t>
            </a:r>
            <a:endParaRPr lang="en-IN" sz="3200" b="1"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4191000" y="1752600"/>
            <a:ext cx="4267200" cy="4721352"/>
          </a:xfrm>
        </p:spPr>
        <p:txBody>
          <a:bodyPr>
            <a:normAutofit fontScale="77500" lnSpcReduction="20000"/>
          </a:bodyPr>
          <a:lstStyle/>
          <a:p>
            <a:pPr algn="just"/>
            <a:r>
              <a:rPr lang="en-US" sz="2600" dirty="0">
                <a:latin typeface="Times New Roman" pitchFamily="18" charset="0"/>
                <a:cs typeface="Times New Roman" pitchFamily="18" charset="0"/>
              </a:rPr>
              <a:t>The sun varies over a period of approximately 11 years. More accurately the lengths of the cycles we have observed have been between 9.0 and 13.6 years. During the course of each cycle the activity of the sun varies and is best observed from the number of sunspots which waxes and wanes through the </a:t>
            </a:r>
            <a:r>
              <a:rPr lang="en-US" sz="2600" dirty="0" smtClean="0">
                <a:latin typeface="Times New Roman" pitchFamily="18" charset="0"/>
                <a:cs typeface="Times New Roman" pitchFamily="18" charset="0"/>
              </a:rPr>
              <a:t>cycle.</a:t>
            </a:r>
            <a:endParaRPr lang="en-US" sz="2600" dirty="0">
              <a:latin typeface="Times New Roman" pitchFamily="18" charset="0"/>
              <a:cs typeface="Times New Roman" pitchFamily="18" charset="0"/>
            </a:endParaRPr>
          </a:p>
          <a:p>
            <a:pPr algn="just"/>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Solar </a:t>
            </a:r>
            <a:r>
              <a:rPr lang="en-US" sz="2600" dirty="0">
                <a:latin typeface="Times New Roman" pitchFamily="18" charset="0"/>
                <a:cs typeface="Times New Roman" pitchFamily="18" charset="0"/>
              </a:rPr>
              <a:t>activity (including: flares, prominence eruptions, coronal mass ejections, solar energetic particle events, and high-speed solar wind streams from coronal holes) varies in frequency with the solar cycle</a:t>
            </a:r>
            <a:r>
              <a:rPr lang="en-US" sz="2600" dirty="0" smtClean="0">
                <a:latin typeface="Times New Roman" pitchFamily="18" charset="0"/>
                <a:cs typeface="Times New Roman" pitchFamily="18" charset="0"/>
              </a:rPr>
              <a:t>.</a:t>
            </a:r>
          </a:p>
          <a:p>
            <a:pPr algn="just"/>
            <a:endParaRPr lang="en-IN" sz="2000" dirty="0">
              <a:latin typeface="Times New Roman" pitchFamily="18" charset="0"/>
              <a:cs typeface="Times New Roman" pitchFamily="18" charset="0"/>
            </a:endParaRPr>
          </a:p>
        </p:txBody>
      </p:sp>
      <p:pic>
        <p:nvPicPr>
          <p:cNvPr id="1026" name="Picture 2" descr="SWAP sees the Sun"/>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04800" y="1828800"/>
            <a:ext cx="3886200" cy="38862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1013127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657600" y="228600"/>
            <a:ext cx="5029200" cy="6477000"/>
          </a:xfrm>
        </p:spPr>
        <p:txBody>
          <a:bodyPr>
            <a:normAutofit/>
          </a:bodyPr>
          <a:lstStyle/>
          <a:p>
            <a:pPr algn="just"/>
            <a:r>
              <a:rPr lang="en-US" sz="2000" dirty="0">
                <a:latin typeface="Times New Roman" pitchFamily="18" charset="0"/>
                <a:cs typeface="Times New Roman" pitchFamily="18" charset="0"/>
              </a:rPr>
              <a:t>It seems that in terms of the total amount of energy coming from the sun there is only a very small variation due to the changing level of solar activity during a single cycle. Apparently there is a variation from top to bottom of each cycle of only 0.01% of the total. However it may be that the change in length of a cycle creates a bigger difference in average energy delivered during each day, week, month or year of the particular cycle.</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Forecasting </a:t>
            </a:r>
            <a:r>
              <a:rPr lang="en-US" sz="2000" dirty="0">
                <a:latin typeface="Times New Roman" pitchFamily="18" charset="0"/>
                <a:cs typeface="Times New Roman" pitchFamily="18" charset="0"/>
              </a:rPr>
              <a:t>of solar activities has greater importance for </a:t>
            </a:r>
            <a:r>
              <a:rPr lang="en-US" sz="2000" dirty="0" smtClean="0">
                <a:latin typeface="Times New Roman" pitchFamily="18" charset="0"/>
                <a:cs typeface="Times New Roman" pitchFamily="18" charset="0"/>
              </a:rPr>
              <a:t>scientific as </a:t>
            </a:r>
            <a:r>
              <a:rPr lang="en-US" sz="2000" dirty="0">
                <a:latin typeface="Times New Roman" pitchFamily="18" charset="0"/>
                <a:cs typeface="Times New Roman" pitchFamily="18" charset="0"/>
              </a:rPr>
              <a:t>well as for social concern and various </a:t>
            </a:r>
            <a:r>
              <a:rPr lang="en-US" sz="2000" dirty="0" smtClean="0">
                <a:latin typeface="Times New Roman" pitchFamily="18" charset="0"/>
                <a:cs typeface="Times New Roman" pitchFamily="18" charset="0"/>
              </a:rPr>
              <a:t>methods have </a:t>
            </a:r>
            <a:r>
              <a:rPr lang="en-US" sz="2000" dirty="0">
                <a:latin typeface="Times New Roman" pitchFamily="18" charset="0"/>
                <a:cs typeface="Times New Roman" pitchFamily="18" charset="0"/>
              </a:rPr>
              <a:t>been developed in the past for the same.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Since</a:t>
            </a:r>
            <a:r>
              <a:rPr lang="en-US" sz="2000" dirty="0">
                <a:latin typeface="Times New Roman" pitchFamily="18" charset="0"/>
                <a:cs typeface="Times New Roman" pitchFamily="18" charset="0"/>
              </a:rPr>
              <a:t>, the </a:t>
            </a:r>
            <a:r>
              <a:rPr lang="en-US" sz="2000" dirty="0" smtClean="0">
                <a:latin typeface="Times New Roman" pitchFamily="18" charset="0"/>
                <a:cs typeface="Times New Roman" pitchFamily="18" charset="0"/>
              </a:rPr>
              <a:t>best representation </a:t>
            </a:r>
            <a:r>
              <a:rPr lang="en-US" sz="2000" dirty="0">
                <a:latin typeface="Times New Roman" pitchFamily="18" charset="0"/>
                <a:cs typeface="Times New Roman" pitchFamily="18" charset="0"/>
              </a:rPr>
              <a:t>of solar activity is the variation in solar </a:t>
            </a:r>
            <a:r>
              <a:rPr lang="en-US" sz="2000" dirty="0" smtClean="0">
                <a:latin typeface="Times New Roman" pitchFamily="18" charset="0"/>
                <a:cs typeface="Times New Roman" pitchFamily="18" charset="0"/>
              </a:rPr>
              <a:t>parameters on </a:t>
            </a:r>
            <a:r>
              <a:rPr lang="en-US" sz="2000" dirty="0">
                <a:latin typeface="Times New Roman" pitchFamily="18" charset="0"/>
                <a:cs typeface="Times New Roman" pitchFamily="18" charset="0"/>
              </a:rPr>
              <a:t>the time scale therefore we have </a:t>
            </a:r>
            <a:r>
              <a:rPr lang="en-US" sz="2000" dirty="0" smtClean="0">
                <a:latin typeface="Times New Roman" pitchFamily="18" charset="0"/>
                <a:cs typeface="Times New Roman" pitchFamily="18" charset="0"/>
              </a:rPr>
              <a:t>analyzed and predicted </a:t>
            </a:r>
            <a:r>
              <a:rPr lang="en-US" sz="2000" dirty="0">
                <a:latin typeface="Times New Roman" pitchFamily="18" charset="0"/>
                <a:cs typeface="Times New Roman" pitchFamily="18" charset="0"/>
              </a:rPr>
              <a:t>some solar parameters for future solar cycles </a:t>
            </a:r>
            <a:r>
              <a:rPr lang="en-US" sz="2000" dirty="0" smtClean="0">
                <a:latin typeface="Times New Roman" pitchFamily="18" charset="0"/>
                <a:cs typeface="Times New Roman" pitchFamily="18" charset="0"/>
              </a:rPr>
              <a:t>25 </a:t>
            </a:r>
            <a:r>
              <a:rPr lang="en-IN" sz="2000" dirty="0" smtClean="0">
                <a:latin typeface="Times New Roman" pitchFamily="18" charset="0"/>
                <a:cs typeface="Times New Roman" pitchFamily="18" charset="0"/>
              </a:rPr>
              <a:t>and </a:t>
            </a:r>
            <a:r>
              <a:rPr lang="en-IN" sz="2000" dirty="0">
                <a:latin typeface="Times New Roman" pitchFamily="18" charset="0"/>
                <a:cs typeface="Times New Roman" pitchFamily="18" charset="0"/>
              </a:rPr>
              <a:t>26.</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2400" y="304800"/>
            <a:ext cx="3429000" cy="2971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61924" y="3886200"/>
            <a:ext cx="3419475" cy="2514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785711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10600" cy="3840162"/>
          </a:xfrm>
        </p:spPr>
        <p:txBody>
          <a:bodyPr>
            <a:normAutofit/>
          </a:bodyPr>
          <a:lstStyle/>
          <a:p>
            <a:r>
              <a:rPr lang="en-US" sz="3600" b="1" dirty="0" smtClean="0">
                <a:solidFill>
                  <a:schemeClr val="accent1">
                    <a:lumMod val="75000"/>
                  </a:schemeClr>
                </a:solidFill>
                <a:latin typeface="Times New Roman" pitchFamily="18" charset="0"/>
                <a:cs typeface="Times New Roman" pitchFamily="18" charset="0"/>
              </a:rPr>
              <a:t>Forecasting the solar cycle 25 and 26</a:t>
            </a:r>
            <a:endParaRPr lang="en-IN" sz="3600" b="1" dirty="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5790367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096962"/>
          </a:xfrm>
        </p:spPr>
        <p:txBody>
          <a:bodyPr>
            <a:noAutofit/>
          </a:bodyPr>
          <a:lstStyle/>
          <a:p>
            <a:r>
              <a:rPr lang="en-IN" sz="3200" b="1" dirty="0" smtClean="0">
                <a:solidFill>
                  <a:schemeClr val="accent1">
                    <a:lumMod val="75000"/>
                  </a:schemeClr>
                </a:solidFill>
                <a:latin typeface="Times New Roman" pitchFamily="18" charset="0"/>
                <a:cs typeface="Times New Roman" pitchFamily="18" charset="0"/>
              </a:rPr>
              <a:t>Introduction</a:t>
            </a:r>
            <a:endParaRPr lang="en-IN" sz="3200" b="1"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676400"/>
            <a:ext cx="8077200" cy="4797552"/>
          </a:xfrm>
        </p:spPr>
        <p:txBody>
          <a:bodyPr/>
          <a:lstStyle/>
          <a:p>
            <a:pPr algn="just"/>
            <a:r>
              <a:rPr lang="en-US" sz="2000" dirty="0">
                <a:latin typeface="Times New Roman" pitchFamily="18" charset="0"/>
                <a:cs typeface="Times New Roman" pitchFamily="18" charset="0"/>
              </a:rPr>
              <a:t>Study of variations in solar activity </a:t>
            </a:r>
            <a:r>
              <a:rPr lang="en-US" sz="2000" dirty="0" smtClean="0">
                <a:latin typeface="Times New Roman" pitchFamily="18" charset="0"/>
                <a:cs typeface="Times New Roman" pitchFamily="18" charset="0"/>
              </a:rPr>
              <a:t>parameters has </a:t>
            </a:r>
            <a:r>
              <a:rPr lang="en-US" sz="2000" dirty="0">
                <a:latin typeface="Times New Roman" pitchFamily="18" charset="0"/>
                <a:cs typeface="Times New Roman" pitchFamily="18" charset="0"/>
              </a:rPr>
              <a:t>its importance in understanding the underlying </a:t>
            </a:r>
            <a:r>
              <a:rPr lang="en-US" sz="2000" dirty="0" smtClean="0">
                <a:latin typeface="Times New Roman" pitchFamily="18" charset="0"/>
                <a:cs typeface="Times New Roman" pitchFamily="18" charset="0"/>
              </a:rPr>
              <a:t>mechanisms of </a:t>
            </a:r>
            <a:r>
              <a:rPr lang="en-US" sz="2000" dirty="0">
                <a:latin typeface="Times New Roman" pitchFamily="18" charset="0"/>
                <a:cs typeface="Times New Roman" pitchFamily="18" charset="0"/>
              </a:rPr>
              <a:t>space weather phenomena and space climate variability</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We </a:t>
            </a:r>
            <a:r>
              <a:rPr lang="en-US" sz="2000" dirty="0">
                <a:latin typeface="Times New Roman" pitchFamily="18" charset="0"/>
                <a:cs typeface="Times New Roman" pitchFamily="18" charset="0"/>
              </a:rPr>
              <a:t>have used the already observed data of solar </a:t>
            </a:r>
            <a:r>
              <a:rPr lang="en-US" sz="2000" dirty="0" smtClean="0">
                <a:latin typeface="Times New Roman" pitchFamily="18" charset="0"/>
                <a:cs typeface="Times New Roman" pitchFamily="18" charset="0"/>
              </a:rPr>
              <a:t>parameters viz</a:t>
            </a:r>
            <a:r>
              <a:rPr lang="en-US" sz="2000" dirty="0">
                <a:latin typeface="Times New Roman" pitchFamily="18" charset="0"/>
                <a:cs typeface="Times New Roman" pitchFamily="18" charset="0"/>
              </a:rPr>
              <a:t>. sunspot numbers, F10.7 cm index and </a:t>
            </a:r>
            <a:r>
              <a:rPr lang="en-US" sz="2000" dirty="0" smtClean="0">
                <a:latin typeface="Times New Roman" pitchFamily="18" charset="0"/>
                <a:cs typeface="Times New Roman" pitchFamily="18" charset="0"/>
              </a:rPr>
              <a:t>Lyman alpha </a:t>
            </a:r>
            <a:r>
              <a:rPr lang="en-US" sz="2000" dirty="0">
                <a:latin typeface="Times New Roman" pitchFamily="18" charset="0"/>
                <a:cs typeface="Times New Roman" pitchFamily="18" charset="0"/>
              </a:rPr>
              <a:t>index recorded for last seventy years (1947–2017</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In this study we have used three major statistical methods-</a:t>
            </a:r>
          </a:p>
          <a:p>
            <a:pPr marL="0" indent="0" algn="just">
              <a:buNone/>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1) Rescaled range analysis</a:t>
            </a:r>
          </a:p>
          <a:p>
            <a:pPr marL="0" indent="0" algn="just">
              <a:buNone/>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2) </a:t>
            </a:r>
            <a:r>
              <a:rPr lang="en-IN" sz="2000" dirty="0" err="1">
                <a:latin typeface="Times New Roman" pitchFamily="18" charset="0"/>
                <a:cs typeface="Times New Roman" pitchFamily="18" charset="0"/>
              </a:rPr>
              <a:t>Hodrick</a:t>
            </a:r>
            <a:r>
              <a:rPr lang="en-IN" sz="2000" dirty="0">
                <a:latin typeface="Times New Roman" pitchFamily="18" charset="0"/>
                <a:cs typeface="Times New Roman" pitchFamily="18" charset="0"/>
              </a:rPr>
              <a:t> Prescott </a:t>
            </a:r>
            <a:r>
              <a:rPr lang="en-IN" sz="2000" dirty="0" smtClean="0">
                <a:latin typeface="Times New Roman" pitchFamily="18" charset="0"/>
                <a:cs typeface="Times New Roman" pitchFamily="18" charset="0"/>
              </a:rPr>
              <a:t>filtering</a:t>
            </a:r>
          </a:p>
          <a:p>
            <a:pPr marL="0" indent="0" algn="just">
              <a:buNone/>
            </a:pPr>
            <a:r>
              <a:rPr lang="en-IN" sz="2000" dirty="0">
                <a:latin typeface="Times New Roman" pitchFamily="18" charset="0"/>
                <a:cs typeface="Times New Roman" pitchFamily="18" charset="0"/>
              </a:rPr>
              <a:t> </a:t>
            </a:r>
            <a:r>
              <a:rPr lang="en-IN" sz="2000" dirty="0" smtClean="0">
                <a:latin typeface="Times New Roman" pitchFamily="18" charset="0"/>
                <a:cs typeface="Times New Roman" pitchFamily="18" charset="0"/>
              </a:rPr>
              <a:t>   3) Simplex projection analysis</a:t>
            </a:r>
          </a:p>
          <a:p>
            <a:pPr marL="0" indent="0" algn="just">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xmlns="" val="5018158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09600"/>
            <a:ext cx="8305800" cy="5864352"/>
          </a:xfrm>
        </p:spPr>
        <p:txBody>
          <a:bodyPr>
            <a:normAutofit/>
          </a:bodyPr>
          <a:lstStyle/>
          <a:p>
            <a:pPr algn="just"/>
            <a:r>
              <a:rPr lang="en-US" sz="2000" dirty="0">
                <a:latin typeface="Times New Roman" pitchFamily="18" charset="0"/>
                <a:cs typeface="Times New Roman" pitchFamily="18" charset="0"/>
              </a:rPr>
              <a:t>The understanding of solar activity and solar related </a:t>
            </a:r>
            <a:r>
              <a:rPr lang="en-US" sz="2000" dirty="0" smtClean="0">
                <a:latin typeface="Times New Roman" pitchFamily="18" charset="0"/>
                <a:cs typeface="Times New Roman" pitchFamily="18" charset="0"/>
              </a:rPr>
              <a:t>events is </a:t>
            </a:r>
            <a:r>
              <a:rPr lang="en-US" sz="2000" dirty="0">
                <a:latin typeface="Times New Roman" pitchFamily="18" charset="0"/>
                <a:cs typeface="Times New Roman" pitchFamily="18" charset="0"/>
              </a:rPr>
              <a:t>important for scientific, social, and economic reasons. </a:t>
            </a:r>
            <a:r>
              <a:rPr lang="en-US" sz="2000" dirty="0" smtClean="0">
                <a:latin typeface="Times New Roman" pitchFamily="18" charset="0"/>
                <a:cs typeface="Times New Roman" pitchFamily="18" charset="0"/>
              </a:rPr>
              <a:t>Our Sun </a:t>
            </a:r>
            <a:r>
              <a:rPr lang="en-US" sz="2000" dirty="0">
                <a:latin typeface="Times New Roman" pitchFamily="18" charset="0"/>
                <a:cs typeface="Times New Roman" pitchFamily="18" charset="0"/>
              </a:rPr>
              <a:t>is the epicenter of all solar activities and associated </a:t>
            </a:r>
            <a:r>
              <a:rPr lang="en-US" sz="2000" dirty="0" smtClean="0">
                <a:latin typeface="Times New Roman" pitchFamily="18" charset="0"/>
                <a:cs typeface="Times New Roman" pitchFamily="18" charset="0"/>
              </a:rPr>
              <a:t>phenomena and </a:t>
            </a:r>
            <a:r>
              <a:rPr lang="en-US" sz="2000" dirty="0">
                <a:latin typeface="Times New Roman" pitchFamily="18" charset="0"/>
                <a:cs typeface="Times New Roman" pitchFamily="18" charset="0"/>
              </a:rPr>
              <a:t>plays a pivotal role in space weather </a:t>
            </a:r>
            <a:r>
              <a:rPr lang="en-US" sz="2000" dirty="0" smtClean="0">
                <a:latin typeface="Times New Roman" pitchFamily="18" charset="0"/>
                <a:cs typeface="Times New Roman" pitchFamily="18" charset="0"/>
              </a:rPr>
              <a:t>concerns </a:t>
            </a:r>
            <a:r>
              <a:rPr lang="en-IN" sz="2000" dirty="0" smtClean="0">
                <a:latin typeface="Times New Roman" pitchFamily="18" charset="0"/>
                <a:cs typeface="Times New Roman" pitchFamily="18" charset="0"/>
              </a:rPr>
              <a:t>and </a:t>
            </a:r>
            <a:r>
              <a:rPr lang="en-IN" sz="2000" dirty="0">
                <a:latin typeface="Times New Roman" pitchFamily="18" charset="0"/>
                <a:cs typeface="Times New Roman" pitchFamily="18" charset="0"/>
              </a:rPr>
              <a:t>global climate </a:t>
            </a:r>
            <a:r>
              <a:rPr lang="en-IN" sz="2000" dirty="0" smtClean="0">
                <a:latin typeface="Times New Roman" pitchFamily="18" charset="0"/>
                <a:cs typeface="Times New Roman" pitchFamily="18" charset="0"/>
              </a:rPr>
              <a:t>studies.</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In </a:t>
            </a:r>
            <a:r>
              <a:rPr lang="en-US" sz="2000" dirty="0">
                <a:latin typeface="Times New Roman" pitchFamily="18" charset="0"/>
                <a:cs typeface="Times New Roman" pitchFamily="18" charset="0"/>
              </a:rPr>
              <a:t>recent past, the space </a:t>
            </a:r>
            <a:r>
              <a:rPr lang="en-US" sz="2000" dirty="0" smtClean="0">
                <a:latin typeface="Times New Roman" pitchFamily="18" charset="0"/>
                <a:cs typeface="Times New Roman" pitchFamily="18" charset="0"/>
              </a:rPr>
              <a:t>observations have </a:t>
            </a:r>
            <a:r>
              <a:rPr lang="en-US" sz="2000" dirty="0">
                <a:latin typeface="Times New Roman" pitchFamily="18" charset="0"/>
                <a:cs typeface="Times New Roman" pitchFamily="18" charset="0"/>
              </a:rPr>
              <a:t>greatly expanded our ability to look into the Sun, </a:t>
            </a:r>
            <a:r>
              <a:rPr lang="en-US" sz="2000" dirty="0" smtClean="0">
                <a:latin typeface="Times New Roman" pitchFamily="18" charset="0"/>
                <a:cs typeface="Times New Roman" pitchFamily="18" charset="0"/>
              </a:rPr>
              <a:t>the interplanetary </a:t>
            </a:r>
            <a:r>
              <a:rPr lang="en-US" sz="2000" dirty="0">
                <a:latin typeface="Times New Roman" pitchFamily="18" charset="0"/>
                <a:cs typeface="Times New Roman" pitchFamily="18" charset="0"/>
              </a:rPr>
              <a:t>space, and the near surroundings of the Earth</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solar activity variations take place within a period </a:t>
            </a:r>
            <a:r>
              <a:rPr lang="en-US" sz="2000" dirty="0" smtClean="0">
                <a:latin typeface="Times New Roman" pitchFamily="18" charset="0"/>
                <a:cs typeface="Times New Roman" pitchFamily="18" charset="0"/>
              </a:rPr>
              <a:t>of about </a:t>
            </a:r>
            <a:r>
              <a:rPr lang="en-US" sz="2000" dirty="0">
                <a:latin typeface="Times New Roman" pitchFamily="18" charset="0"/>
                <a:cs typeface="Times New Roman" pitchFamily="18" charset="0"/>
              </a:rPr>
              <a:t>11 years and are the major cause of changes in </a:t>
            </a:r>
            <a:r>
              <a:rPr lang="en-US" sz="2000" dirty="0" smtClean="0">
                <a:latin typeface="Times New Roman" pitchFamily="18" charset="0"/>
                <a:cs typeface="Times New Roman" pitchFamily="18" charset="0"/>
              </a:rPr>
              <a:t>interplanetary  and </a:t>
            </a:r>
            <a:r>
              <a:rPr lang="en-US" sz="2000" dirty="0">
                <a:latin typeface="Times New Roman" pitchFamily="18" charset="0"/>
                <a:cs typeface="Times New Roman" pitchFamily="18" charset="0"/>
              </a:rPr>
              <a:t>the near Earth space </a:t>
            </a:r>
            <a:r>
              <a:rPr lang="en-US" sz="2000" dirty="0" smtClean="0">
                <a:latin typeface="Times New Roman" pitchFamily="18" charset="0"/>
                <a:cs typeface="Times New Roman" pitchFamily="18" charset="0"/>
              </a:rPr>
              <a:t>conditions.</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This </a:t>
            </a:r>
            <a:r>
              <a:rPr lang="en-US" sz="2000" dirty="0">
                <a:latin typeface="Times New Roman" pitchFamily="18" charset="0"/>
                <a:cs typeface="Times New Roman" pitchFamily="18" charset="0"/>
              </a:rPr>
              <a:t>also makes prediction </a:t>
            </a:r>
            <a:r>
              <a:rPr lang="en-US" sz="2000" dirty="0" smtClean="0">
                <a:latin typeface="Times New Roman" pitchFamily="18" charset="0"/>
                <a:cs typeface="Times New Roman" pitchFamily="18" charset="0"/>
              </a:rPr>
              <a:t>requirements so </a:t>
            </a:r>
            <a:r>
              <a:rPr lang="en-US" sz="2000" dirty="0">
                <a:latin typeface="Times New Roman" pitchFamily="18" charset="0"/>
                <a:cs typeface="Times New Roman" pitchFamily="18" charset="0"/>
              </a:rPr>
              <a:t>important to know about the level of </a:t>
            </a:r>
            <a:r>
              <a:rPr lang="en-US" sz="2000" dirty="0" smtClean="0">
                <a:latin typeface="Times New Roman" pitchFamily="18" charset="0"/>
                <a:cs typeface="Times New Roman" pitchFamily="18" charset="0"/>
              </a:rPr>
              <a:t>solar activity </a:t>
            </a:r>
            <a:r>
              <a:rPr lang="en-US" sz="2000" dirty="0">
                <a:latin typeface="Times New Roman" pitchFamily="18" charset="0"/>
                <a:cs typeface="Times New Roman" pitchFamily="18" charset="0"/>
              </a:rPr>
              <a:t>in advance and ultimately about the solar cycles </a:t>
            </a:r>
            <a:r>
              <a:rPr lang="en-US" sz="2000" dirty="0" smtClean="0">
                <a:latin typeface="Times New Roman" pitchFamily="18" charset="0"/>
                <a:cs typeface="Times New Roman" pitchFamily="18" charset="0"/>
              </a:rPr>
              <a:t>and </a:t>
            </a:r>
            <a:r>
              <a:rPr lang="en-IN" sz="2000" dirty="0" smtClean="0">
                <a:latin typeface="Times New Roman" pitchFamily="18" charset="0"/>
                <a:cs typeface="Times New Roman" pitchFamily="18" charset="0"/>
              </a:rPr>
              <a:t>terrestrial </a:t>
            </a:r>
            <a:r>
              <a:rPr lang="en-IN" sz="2000" dirty="0">
                <a:latin typeface="Times New Roman" pitchFamily="18" charset="0"/>
                <a:cs typeface="Times New Roman" pitchFamily="18" charset="0"/>
              </a:rPr>
              <a:t>climate</a:t>
            </a:r>
          </a:p>
        </p:txBody>
      </p:sp>
    </p:spTree>
    <p:extLst>
      <p:ext uri="{BB962C8B-B14F-4D97-AF65-F5344CB8AC3E}">
        <p14:creationId xmlns:p14="http://schemas.microsoft.com/office/powerpoint/2010/main" xmlns="" val="42454873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1325562"/>
          </a:xfrm>
        </p:spPr>
        <p:txBody>
          <a:bodyPr>
            <a:noAutofit/>
          </a:bodyPr>
          <a:lstStyle/>
          <a:p>
            <a:r>
              <a:rPr lang="en-IN" sz="3200" b="1" dirty="0" smtClean="0">
                <a:solidFill>
                  <a:schemeClr val="accent1">
                    <a:lumMod val="75000"/>
                  </a:schemeClr>
                </a:solidFill>
                <a:latin typeface="Times New Roman" pitchFamily="18" charset="0"/>
                <a:cs typeface="Times New Roman" pitchFamily="18" charset="0"/>
              </a:rPr>
              <a:t>Some previous works on solar activity predictions</a:t>
            </a:r>
            <a:endParaRPr lang="en-IN" sz="3200" b="1"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828800"/>
            <a:ext cx="8229600" cy="4495800"/>
          </a:xfrm>
        </p:spPr>
        <p:txBody>
          <a:bodyPr>
            <a:normAutofit/>
          </a:bodyPr>
          <a:lstStyle/>
          <a:p>
            <a:pPr algn="just">
              <a:buFont typeface="Wingdings" pitchFamily="2" charset="2"/>
              <a:buChar char="v"/>
            </a:pPr>
            <a:r>
              <a:rPr lang="en-US" sz="2000" dirty="0" smtClean="0">
                <a:latin typeface="Times New Roman" pitchFamily="18" charset="0"/>
                <a:cs typeface="Times New Roman" pitchFamily="18" charset="0"/>
              </a:rPr>
              <a:t> Various </a:t>
            </a:r>
            <a:r>
              <a:rPr lang="en-US" sz="2000" dirty="0">
                <a:latin typeface="Times New Roman" pitchFamily="18" charset="0"/>
                <a:cs typeface="Times New Roman" pitchFamily="18" charset="0"/>
              </a:rPr>
              <a:t>tools and methods have been adopted, in </a:t>
            </a:r>
            <a:r>
              <a:rPr lang="en-US" sz="2000" dirty="0" smtClean="0">
                <a:latin typeface="Times New Roman" pitchFamily="18" charset="0"/>
                <a:cs typeface="Times New Roman" pitchFamily="18" charset="0"/>
              </a:rPr>
              <a:t>the past</a:t>
            </a:r>
            <a:r>
              <a:rPr lang="en-US" sz="2000" dirty="0">
                <a:latin typeface="Times New Roman" pitchFamily="18" charset="0"/>
                <a:cs typeface="Times New Roman" pitchFamily="18" charset="0"/>
              </a:rPr>
              <a:t>, for the predictions of solar activities. Statistical </a:t>
            </a:r>
            <a:r>
              <a:rPr lang="en-US" sz="2000" dirty="0" smtClean="0">
                <a:latin typeface="Times New Roman" pitchFamily="18" charset="0"/>
                <a:cs typeface="Times New Roman" pitchFamily="18" charset="0"/>
              </a:rPr>
              <a:t>methods, spectral </a:t>
            </a:r>
            <a:r>
              <a:rPr lang="en-US" sz="2000" dirty="0">
                <a:latin typeface="Times New Roman" pitchFamily="18" charset="0"/>
                <a:cs typeface="Times New Roman" pitchFamily="18" charset="0"/>
              </a:rPr>
              <a:t>analysis and predictions by an </a:t>
            </a:r>
            <a:r>
              <a:rPr lang="en-US" sz="2000" dirty="0" smtClean="0">
                <a:latin typeface="Times New Roman" pitchFamily="18" charset="0"/>
                <a:cs typeface="Times New Roman" pitchFamily="18" charset="0"/>
              </a:rPr>
              <a:t>extrapolation of </a:t>
            </a:r>
            <a:r>
              <a:rPr lang="en-US" sz="2000" dirty="0">
                <a:latin typeface="Times New Roman" pitchFamily="18" charset="0"/>
                <a:cs typeface="Times New Roman" pitchFamily="18" charset="0"/>
              </a:rPr>
              <a:t>the significant periodicities present in solar activity </a:t>
            </a:r>
            <a:r>
              <a:rPr lang="en-US" sz="2000" dirty="0" smtClean="0">
                <a:latin typeface="Times New Roman" pitchFamily="18" charset="0"/>
                <a:cs typeface="Times New Roman" pitchFamily="18" charset="0"/>
              </a:rPr>
              <a:t>cycles have </a:t>
            </a:r>
            <a:r>
              <a:rPr lang="en-US" sz="2000" dirty="0">
                <a:latin typeface="Times New Roman" pitchFamily="18" charset="0"/>
                <a:cs typeface="Times New Roman" pitchFamily="18" charset="0"/>
              </a:rPr>
              <a:t>been already reported (Cohen and </a:t>
            </a:r>
            <a:r>
              <a:rPr lang="en-US" sz="2000" dirty="0" err="1">
                <a:latin typeface="Times New Roman" pitchFamily="18" charset="0"/>
                <a:cs typeface="Times New Roman" pitchFamily="18" charset="0"/>
              </a:rPr>
              <a:t>Lintz</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1974;DeMeyer </a:t>
            </a:r>
            <a:r>
              <a:rPr lang="en-US" sz="2000" dirty="0">
                <a:latin typeface="Times New Roman" pitchFamily="18" charset="0"/>
                <a:cs typeface="Times New Roman" pitchFamily="18" charset="0"/>
              </a:rPr>
              <a:t>1981; Kane and </a:t>
            </a:r>
            <a:r>
              <a:rPr lang="en-US" sz="2000" dirty="0" err="1" smtClean="0">
                <a:latin typeface="Times New Roman" pitchFamily="18" charset="0"/>
                <a:cs typeface="Times New Roman" pitchFamily="18" charset="0"/>
              </a:rPr>
              <a:t>Trivedi</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1985).</a:t>
            </a:r>
          </a:p>
          <a:p>
            <a:pPr algn="just">
              <a:buFont typeface="Wingdings" pitchFamily="2" charset="2"/>
              <a:buChar char="v"/>
            </a:pPr>
            <a:endParaRPr lang="en-US" sz="2000" dirty="0" smtClean="0">
              <a:latin typeface="Times New Roman" pitchFamily="18" charset="0"/>
              <a:cs typeface="Times New Roman" pitchFamily="18" charset="0"/>
            </a:endParaRPr>
          </a:p>
          <a:p>
            <a:pPr algn="just">
              <a:buFont typeface="Wingdings" pitchFamily="2" charset="2"/>
              <a:buChar char="v"/>
            </a:pPr>
            <a:r>
              <a:rPr lang="en-IN" sz="2000" dirty="0" err="1">
                <a:latin typeface="Times New Roman" pitchFamily="18" charset="0"/>
                <a:cs typeface="Times New Roman" pitchFamily="18" charset="0"/>
              </a:rPr>
              <a:t>Quassim</a:t>
            </a:r>
            <a:r>
              <a:rPr lang="en-IN" sz="2000" dirty="0">
                <a:latin typeface="Times New Roman" pitchFamily="18" charset="0"/>
                <a:cs typeface="Times New Roman" pitchFamily="18" charset="0"/>
              </a:rPr>
              <a:t> et al</a:t>
            </a:r>
            <a:r>
              <a:rPr lang="en-IN"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 (2007) have applied </a:t>
            </a:r>
            <a:r>
              <a:rPr lang="en-US" sz="2000" dirty="0" err="1" smtClean="0">
                <a:latin typeface="Times New Roman" pitchFamily="18" charset="0"/>
                <a:cs typeface="Times New Roman" pitchFamily="18" charset="0"/>
              </a:rPr>
              <a:t>neuro</a:t>
            </a:r>
            <a:r>
              <a:rPr lang="en-US" sz="2000" dirty="0" smtClean="0">
                <a:latin typeface="Times New Roman" pitchFamily="18" charset="0"/>
                <a:cs typeface="Times New Roman" pitchFamily="18" charset="0"/>
              </a:rPr>
              <a:t>-fuzzy approach </a:t>
            </a:r>
            <a:r>
              <a:rPr lang="en-US" sz="2000" dirty="0">
                <a:latin typeface="Times New Roman" pitchFamily="18" charset="0"/>
                <a:cs typeface="Times New Roman" pitchFamily="18" charset="0"/>
              </a:rPr>
              <a:t>for the </a:t>
            </a:r>
            <a:r>
              <a:rPr lang="en-US" sz="2000" dirty="0" smtClean="0">
                <a:latin typeface="Times New Roman" pitchFamily="18" charset="0"/>
                <a:cs typeface="Times New Roman" pitchFamily="18" charset="0"/>
              </a:rPr>
              <a:t>prediction of </a:t>
            </a:r>
            <a:r>
              <a:rPr lang="en-US" sz="2000" dirty="0">
                <a:latin typeface="Times New Roman" pitchFamily="18" charset="0"/>
                <a:cs typeface="Times New Roman" pitchFamily="18" charset="0"/>
              </a:rPr>
              <a:t>sunspot numbers for solar cycles 24 and 25</a:t>
            </a:r>
            <a:r>
              <a:rPr lang="en-US" sz="2000" dirty="0" smtClean="0">
                <a:latin typeface="Times New Roman" pitchFamily="18" charset="0"/>
                <a:cs typeface="Times New Roman" pitchFamily="18" charset="0"/>
              </a:rPr>
              <a:t>.</a:t>
            </a:r>
          </a:p>
          <a:p>
            <a:pPr algn="just">
              <a:buFont typeface="Wingdings" pitchFamily="2" charset="2"/>
              <a:buChar char="v"/>
            </a:pPr>
            <a:endParaRPr lang="en-US" sz="2000" dirty="0" smtClean="0">
              <a:latin typeface="Times New Roman" pitchFamily="18" charset="0"/>
              <a:cs typeface="Times New Roman" pitchFamily="18" charset="0"/>
            </a:endParaRPr>
          </a:p>
          <a:p>
            <a:pPr>
              <a:buFont typeface="Wingdings" pitchFamily="2" charset="2"/>
              <a:buChar char="v"/>
            </a:pPr>
            <a:r>
              <a:rPr lang="en-IN" sz="2000" dirty="0" smtClean="0">
                <a:latin typeface="Times New Roman" pitchFamily="18" charset="0"/>
                <a:cs typeface="Times New Roman" pitchFamily="18" charset="0"/>
              </a:rPr>
              <a:t>Hamid </a:t>
            </a:r>
            <a:r>
              <a:rPr lang="en-US" sz="2000" dirty="0" smtClean="0">
                <a:latin typeface="Times New Roman" pitchFamily="18" charset="0"/>
                <a:cs typeface="Times New Roman" pitchFamily="18" charset="0"/>
              </a:rPr>
              <a:t>and </a:t>
            </a:r>
            <a:r>
              <a:rPr lang="en-US" sz="2000" dirty="0" err="1">
                <a:latin typeface="Times New Roman" pitchFamily="18" charset="0"/>
                <a:cs typeface="Times New Roman" pitchFamily="18" charset="0"/>
              </a:rPr>
              <a:t>Galal</a:t>
            </a:r>
            <a:r>
              <a:rPr lang="en-US" sz="2000" dirty="0">
                <a:latin typeface="Times New Roman" pitchFamily="18" charset="0"/>
                <a:cs typeface="Times New Roman" pitchFamily="18" charset="0"/>
              </a:rPr>
              <a:t> (2013) have used precursor technique to </a:t>
            </a:r>
            <a:r>
              <a:rPr lang="en-US" sz="2000" dirty="0" smtClean="0">
                <a:latin typeface="Times New Roman" pitchFamily="18" charset="0"/>
                <a:cs typeface="Times New Roman" pitchFamily="18" charset="0"/>
              </a:rPr>
              <a:t>forecast the </a:t>
            </a:r>
            <a:r>
              <a:rPr lang="en-US" sz="2000" dirty="0">
                <a:latin typeface="Times New Roman" pitchFamily="18" charset="0"/>
                <a:cs typeface="Times New Roman" pitchFamily="18" charset="0"/>
              </a:rPr>
              <a:t>maximum amplitude and the time of rise for 25th </a:t>
            </a:r>
            <a:r>
              <a:rPr lang="en-US" sz="2000" dirty="0" smtClean="0">
                <a:latin typeface="Times New Roman" pitchFamily="18" charset="0"/>
                <a:cs typeface="Times New Roman" pitchFamily="18" charset="0"/>
              </a:rPr>
              <a:t>solar </a:t>
            </a:r>
            <a:r>
              <a:rPr lang="en-IN" sz="2000" dirty="0" smtClean="0">
                <a:latin typeface="Times New Roman" pitchFamily="18" charset="0"/>
                <a:cs typeface="Times New Roman" pitchFamily="18" charset="0"/>
              </a:rPr>
              <a:t>cycle</a:t>
            </a:r>
            <a:r>
              <a:rPr lang="en-IN" sz="2000" dirty="0">
                <a:latin typeface="Times New Roman" pitchFamily="18" charset="0"/>
                <a:cs typeface="Times New Roman" pitchFamily="18" charset="0"/>
              </a:rPr>
              <a:t>.</a:t>
            </a:r>
          </a:p>
        </p:txBody>
      </p:sp>
    </p:spTree>
    <p:extLst>
      <p:ext uri="{BB962C8B-B14F-4D97-AF65-F5344CB8AC3E}">
        <p14:creationId xmlns:p14="http://schemas.microsoft.com/office/powerpoint/2010/main" xmlns="" val="2086960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914400"/>
          </a:xfrm>
        </p:spPr>
        <p:txBody>
          <a:bodyPr>
            <a:normAutofit/>
          </a:bodyPr>
          <a:lstStyle/>
          <a:p>
            <a:r>
              <a:rPr lang="en-IN" sz="3200" b="1" dirty="0" smtClean="0">
                <a:solidFill>
                  <a:schemeClr val="accent1">
                    <a:lumMod val="75000"/>
                  </a:schemeClr>
                </a:solidFill>
                <a:latin typeface="Times New Roman" pitchFamily="18" charset="0"/>
                <a:cs typeface="Times New Roman" pitchFamily="18" charset="0"/>
              </a:rPr>
              <a:t>data sources</a:t>
            </a:r>
            <a:endParaRPr lang="en-IN" sz="3200"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676400"/>
            <a:ext cx="8153400" cy="4797552"/>
          </a:xfrm>
        </p:spPr>
        <p:txBody>
          <a:bodyPr/>
          <a:lstStyle/>
          <a:p>
            <a:pPr algn="just"/>
            <a:r>
              <a:rPr lang="en-US" sz="2000" dirty="0">
                <a:latin typeface="Times New Roman" pitchFamily="18" charset="0"/>
                <a:cs typeface="Times New Roman" pitchFamily="18" charset="0"/>
              </a:rPr>
              <a:t>we have used the observed data of </a:t>
            </a:r>
            <a:r>
              <a:rPr lang="en-US" sz="2000" dirty="0" smtClean="0">
                <a:latin typeface="Times New Roman" pitchFamily="18" charset="0"/>
                <a:cs typeface="Times New Roman" pitchFamily="18" charset="0"/>
              </a:rPr>
              <a:t>the sunspot numbers</a:t>
            </a:r>
            <a:r>
              <a:rPr lang="en-US" sz="2000" dirty="0">
                <a:latin typeface="Times New Roman" pitchFamily="18" charset="0"/>
                <a:cs typeface="Times New Roman" pitchFamily="18" charset="0"/>
              </a:rPr>
              <a:t>, the F10.7 cm index and the Lyman </a:t>
            </a:r>
            <a:r>
              <a:rPr lang="en-US" sz="2000" dirty="0" smtClean="0">
                <a:latin typeface="Times New Roman" pitchFamily="18" charset="0"/>
                <a:cs typeface="Times New Roman" pitchFamily="18" charset="0"/>
              </a:rPr>
              <a:t>alpha index </a:t>
            </a:r>
            <a:r>
              <a:rPr lang="en-US" sz="2000" dirty="0">
                <a:latin typeface="Times New Roman" pitchFamily="18" charset="0"/>
                <a:cs typeface="Times New Roman" pitchFamily="18" charset="0"/>
              </a:rPr>
              <a:t>recorded for the period 1947–2017 (mid of </a:t>
            </a:r>
            <a:r>
              <a:rPr lang="en-US" sz="2000" dirty="0" smtClean="0">
                <a:latin typeface="Times New Roman" pitchFamily="18" charset="0"/>
                <a:cs typeface="Times New Roman" pitchFamily="18" charset="0"/>
              </a:rPr>
              <a:t>solar cycle </a:t>
            </a:r>
            <a:r>
              <a:rPr lang="en-US" sz="2000" dirty="0">
                <a:latin typeface="Times New Roman" pitchFamily="18" charset="0"/>
                <a:cs typeface="Times New Roman" pitchFamily="18" charset="0"/>
              </a:rPr>
              <a:t>18 to present solar cycle 24) as an input to </a:t>
            </a:r>
            <a:r>
              <a:rPr lang="en-US" sz="2000" dirty="0" smtClean="0">
                <a:latin typeface="Times New Roman" pitchFamily="18" charset="0"/>
                <a:cs typeface="Times New Roman" pitchFamily="18" charset="0"/>
              </a:rPr>
              <a:t>regenerate the </a:t>
            </a:r>
            <a:r>
              <a:rPr lang="en-US" sz="2000" dirty="0">
                <a:latin typeface="Times New Roman" pitchFamily="18" charset="0"/>
                <a:cs typeface="Times New Roman" pitchFamily="18" charset="0"/>
              </a:rPr>
              <a:t>data for future solar cycles 25 and 26</a:t>
            </a:r>
            <a:r>
              <a:rPr lang="en-US" sz="2000" dirty="0" smtClean="0">
                <a:latin typeface="Times New Roman" pitchFamily="18" charset="0"/>
                <a:cs typeface="Times New Roman" pitchFamily="18" charset="0"/>
              </a:rPr>
              <a:t>.</a:t>
            </a:r>
          </a:p>
          <a:p>
            <a:pPr algn="just"/>
            <a:endParaRPr lang="en-IN" sz="2000"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The </a:t>
            </a:r>
            <a:r>
              <a:rPr lang="en-IN" sz="2000" dirty="0" smtClean="0">
                <a:latin typeface="Times New Roman" pitchFamily="18" charset="0"/>
                <a:cs typeface="Times New Roman" pitchFamily="18" charset="0"/>
              </a:rPr>
              <a:t>monthly </a:t>
            </a:r>
            <a:r>
              <a:rPr lang="en-US" sz="2000" dirty="0" smtClean="0">
                <a:latin typeface="Times New Roman" pitchFamily="18" charset="0"/>
                <a:cs typeface="Times New Roman" pitchFamily="18" charset="0"/>
              </a:rPr>
              <a:t>data </a:t>
            </a:r>
            <a:r>
              <a:rPr lang="en-US" sz="2000" dirty="0">
                <a:latin typeface="Times New Roman" pitchFamily="18" charset="0"/>
                <a:cs typeface="Times New Roman" pitchFamily="18" charset="0"/>
              </a:rPr>
              <a:t>of the sunspot numbers was obtained from the </a:t>
            </a:r>
            <a:r>
              <a:rPr lang="en-US" sz="2000" dirty="0" smtClean="0">
                <a:latin typeface="Times New Roman" pitchFamily="18" charset="0"/>
                <a:cs typeface="Times New Roman" pitchFamily="18" charset="0"/>
              </a:rPr>
              <a:t>website </a:t>
            </a:r>
            <a:r>
              <a:rPr lang="en-IN" sz="2000" dirty="0" smtClean="0">
                <a:latin typeface="Times New Roman" pitchFamily="18" charset="0"/>
                <a:cs typeface="Times New Roman" pitchFamily="18" charset="0"/>
                <a:hlinkClick r:id="rId2"/>
              </a:rPr>
              <a:t>http</a:t>
            </a:r>
            <a:r>
              <a:rPr lang="en-IN" sz="2000" dirty="0">
                <a:latin typeface="Times New Roman" pitchFamily="18" charset="0"/>
                <a:cs typeface="Times New Roman" pitchFamily="18" charset="0"/>
                <a:hlinkClick r:id="rId2"/>
              </a:rPr>
              <a:t>://www.sidc.be/silso</a:t>
            </a:r>
            <a:r>
              <a:rPr lang="en-IN" sz="2000" dirty="0" smtClean="0">
                <a:latin typeface="Times New Roman" pitchFamily="18" charset="0"/>
                <a:cs typeface="Times New Roman" pitchFamily="18" charset="0"/>
                <a:hlinkClick r:id="rId2"/>
              </a:rPr>
              <a:t>/</a:t>
            </a:r>
            <a:r>
              <a:rPr lang="en-IN" sz="2000" dirty="0" smtClean="0">
                <a:latin typeface="Times New Roman" pitchFamily="18" charset="0"/>
                <a:cs typeface="Times New Roman" pitchFamily="18" charset="0"/>
              </a:rPr>
              <a:t>.</a:t>
            </a:r>
          </a:p>
          <a:p>
            <a:pPr algn="just"/>
            <a:endParaRPr lang="en-IN" sz="2000" dirty="0" smtClean="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F10.7 cm index data was </a:t>
            </a:r>
            <a:r>
              <a:rPr lang="en-US" sz="2000" dirty="0" smtClean="0">
                <a:latin typeface="Times New Roman" pitchFamily="18" charset="0"/>
                <a:cs typeface="Times New Roman" pitchFamily="18" charset="0"/>
              </a:rPr>
              <a:t>obtained from </a:t>
            </a:r>
            <a:r>
              <a:rPr lang="en-US" sz="2000" dirty="0">
                <a:latin typeface="Times New Roman" pitchFamily="18" charset="0"/>
                <a:cs typeface="Times New Roman" pitchFamily="18" charset="0"/>
              </a:rPr>
              <a:t>the website </a:t>
            </a:r>
            <a:r>
              <a:rPr lang="en-US" sz="2000" dirty="0">
                <a:latin typeface="Times New Roman" pitchFamily="18" charset="0"/>
                <a:cs typeface="Times New Roman" pitchFamily="18" charset="0"/>
                <a:hlinkClick r:id="rId3"/>
              </a:rPr>
              <a:t>http://</a:t>
            </a:r>
            <a:r>
              <a:rPr lang="en-US" sz="2000" dirty="0" smtClean="0">
                <a:latin typeface="Times New Roman" pitchFamily="18" charset="0"/>
                <a:cs typeface="Times New Roman" pitchFamily="18" charset="0"/>
                <a:hlinkClick r:id="rId3"/>
              </a:rPr>
              <a:t>www.wdcb.ru/stp/solar/solar_</a:t>
            </a:r>
            <a:r>
              <a:rPr lang="en-IN" sz="2000" dirty="0" smtClean="0">
                <a:latin typeface="Times New Roman" pitchFamily="18" charset="0"/>
                <a:cs typeface="Times New Roman" pitchFamily="18" charset="0"/>
                <a:hlinkClick r:id="rId3"/>
              </a:rPr>
              <a:t>activity.html</a:t>
            </a:r>
            <a:endParaRPr lang="en-IN" sz="2000" dirty="0" smtClean="0">
              <a:latin typeface="Times New Roman" pitchFamily="18" charset="0"/>
              <a:cs typeface="Times New Roman" pitchFamily="18" charset="0"/>
            </a:endParaRPr>
          </a:p>
          <a:p>
            <a:pPr algn="just"/>
            <a:endParaRPr lang="en-IN" sz="2000" dirty="0" smtClean="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data of Lyman alpha index was </a:t>
            </a:r>
            <a:r>
              <a:rPr lang="en-US" sz="2000" dirty="0" smtClean="0">
                <a:latin typeface="Times New Roman" pitchFamily="18" charset="0"/>
                <a:cs typeface="Times New Roman" pitchFamily="18" charset="0"/>
              </a:rPr>
              <a:t>acquired from </a:t>
            </a:r>
            <a:r>
              <a:rPr lang="en-US" sz="2000" dirty="0">
                <a:latin typeface="Times New Roman" pitchFamily="18" charset="0"/>
                <a:cs typeface="Times New Roman" pitchFamily="18" charset="0"/>
              </a:rPr>
              <a:t>the </a:t>
            </a:r>
            <a:r>
              <a:rPr lang="en-US" sz="2000" dirty="0" smtClean="0">
                <a:latin typeface="Times New Roman" pitchFamily="18" charset="0"/>
                <a:cs typeface="Times New Roman" pitchFamily="18" charset="0"/>
              </a:rPr>
              <a:t>website </a:t>
            </a:r>
            <a:r>
              <a:rPr lang="en-US" sz="2000" dirty="0" smtClean="0">
                <a:latin typeface="Times New Roman" pitchFamily="18" charset="0"/>
                <a:cs typeface="Times New Roman" pitchFamily="18" charset="0"/>
                <a:hlinkClick r:id="rId4"/>
              </a:rPr>
              <a:t>http</a:t>
            </a:r>
            <a:r>
              <a:rPr lang="en-US" sz="2000" dirty="0">
                <a:latin typeface="Times New Roman" pitchFamily="18" charset="0"/>
                <a:cs typeface="Times New Roman" pitchFamily="18" charset="0"/>
                <a:hlinkClick r:id="rId4"/>
              </a:rPr>
              <a:t>://</a:t>
            </a:r>
            <a:r>
              <a:rPr lang="en-US" sz="2000" dirty="0" smtClean="0">
                <a:latin typeface="Times New Roman" pitchFamily="18" charset="0"/>
                <a:cs typeface="Times New Roman" pitchFamily="18" charset="0"/>
                <a:hlinkClick r:id="rId4"/>
              </a:rPr>
              <a:t>lasp.colorado.edu/lisird/data/</a:t>
            </a:r>
            <a:r>
              <a:rPr lang="en-IN" sz="2000" dirty="0" err="1" smtClean="0">
                <a:latin typeface="Times New Roman" pitchFamily="18" charset="0"/>
                <a:cs typeface="Times New Roman" pitchFamily="18" charset="0"/>
                <a:hlinkClick r:id="rId4"/>
              </a:rPr>
              <a:t>historical_tsi</a:t>
            </a:r>
            <a:r>
              <a:rPr lang="en-IN" sz="2000" dirty="0" smtClean="0">
                <a:latin typeface="Times New Roman" pitchFamily="18" charset="0"/>
                <a:cs typeface="Times New Roman" pitchFamily="18" charset="0"/>
                <a:hlinkClick r:id="rId4"/>
              </a:rPr>
              <a:t>/</a:t>
            </a:r>
            <a:endParaRPr lang="en-IN" sz="2000" dirty="0" smtClean="0">
              <a:latin typeface="Times New Roman" pitchFamily="18" charset="0"/>
              <a:cs typeface="Times New Roman" pitchFamily="18" charset="0"/>
            </a:endParaRPr>
          </a:p>
          <a:p>
            <a:pPr algn="just"/>
            <a:endParaRPr lang="en-IN" dirty="0"/>
          </a:p>
        </p:txBody>
      </p:sp>
    </p:spTree>
    <p:extLst>
      <p:ext uri="{BB962C8B-B14F-4D97-AF65-F5344CB8AC3E}">
        <p14:creationId xmlns:p14="http://schemas.microsoft.com/office/powerpoint/2010/main" xmlns="" val="26296065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Asheesh\Desktop\PAPER_6_R1\PICs\Fig_1.bmp"/>
          <p:cNvPicPr/>
          <p:nvPr/>
        </p:nvPicPr>
        <p:blipFill>
          <a:blip r:embed="rId2">
            <a:extLst>
              <a:ext uri="{28A0092B-C50C-407E-A947-70E740481C1C}">
                <a14:useLocalDpi xmlns:a14="http://schemas.microsoft.com/office/drawing/2010/main" xmlns="" val="0"/>
              </a:ext>
            </a:extLst>
          </a:blip>
          <a:srcRect/>
          <a:stretch>
            <a:fillRect/>
          </a:stretch>
        </p:blipFill>
        <p:spPr bwMode="auto">
          <a:xfrm>
            <a:off x="3429000" y="165100"/>
            <a:ext cx="5257799" cy="6007100"/>
          </a:xfrm>
          <a:prstGeom prst="rect">
            <a:avLst/>
          </a:prstGeom>
          <a:noFill/>
          <a:ln>
            <a:noFill/>
          </a:ln>
        </p:spPr>
      </p:pic>
      <p:sp>
        <p:nvSpPr>
          <p:cNvPr id="5" name="TextBox 4"/>
          <p:cNvSpPr txBox="1"/>
          <p:nvPr/>
        </p:nvSpPr>
        <p:spPr>
          <a:xfrm>
            <a:off x="152400" y="762000"/>
            <a:ext cx="3124200" cy="1631216"/>
          </a:xfrm>
          <a:prstGeom prst="rect">
            <a:avLst/>
          </a:prstGeom>
          <a:noFill/>
        </p:spPr>
        <p:txBody>
          <a:bodyPr wrap="square" rtlCol="0">
            <a:spAutoFit/>
          </a:bodyPr>
          <a:lstStyle/>
          <a:p>
            <a:pPr algn="just"/>
            <a:r>
              <a:rPr lang="en-US" b="1" dirty="0">
                <a:latin typeface="Times New Roman" pitchFamily="18" charset="0"/>
                <a:cs typeface="Times New Roman" pitchFamily="18" charset="0"/>
              </a:rPr>
              <a:t>Fig. 1 </a:t>
            </a:r>
            <a:r>
              <a:rPr lang="en-US" sz="2000" dirty="0">
                <a:latin typeface="Times New Roman" pitchFamily="18" charset="0"/>
                <a:cs typeface="Times New Roman" pitchFamily="18" charset="0"/>
              </a:rPr>
              <a:t>Monthly variations of sunspot numbers, F10.7 cm index </a:t>
            </a:r>
            <a:r>
              <a:rPr lang="en-US" sz="2000" dirty="0" smtClean="0">
                <a:latin typeface="Times New Roman" pitchFamily="18" charset="0"/>
                <a:cs typeface="Times New Roman" pitchFamily="18" charset="0"/>
              </a:rPr>
              <a:t>and Lyman </a:t>
            </a:r>
            <a:r>
              <a:rPr lang="en-US" sz="2000" dirty="0">
                <a:latin typeface="Times New Roman" pitchFamily="18" charset="0"/>
                <a:cs typeface="Times New Roman" pitchFamily="18" charset="0"/>
              </a:rPr>
              <a:t>alpha index for the period 1947 to 2017</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5992993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467600" cy="609600"/>
          </a:xfrm>
        </p:spPr>
        <p:txBody>
          <a:bodyPr>
            <a:normAutofit/>
          </a:bodyPr>
          <a:lstStyle/>
          <a:p>
            <a:r>
              <a:rPr lang="en-IN" sz="3200" b="1" dirty="0" smtClean="0">
                <a:solidFill>
                  <a:schemeClr val="accent1">
                    <a:lumMod val="75000"/>
                  </a:schemeClr>
                </a:solidFill>
                <a:latin typeface="Times New Roman" pitchFamily="18" charset="0"/>
                <a:cs typeface="Times New Roman" pitchFamily="18" charset="0"/>
              </a:rPr>
              <a:t>Methodology</a:t>
            </a:r>
            <a:endParaRPr lang="en-IN" sz="3200" b="1"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371600"/>
            <a:ext cx="8229600" cy="5102352"/>
          </a:xfrm>
        </p:spPr>
        <p:txBody>
          <a:bodyPr>
            <a:normAutofit/>
          </a:bodyPr>
          <a:lstStyle/>
          <a:p>
            <a:pPr algn="just"/>
            <a:r>
              <a:rPr lang="en-US" sz="2000" dirty="0">
                <a:latin typeface="Times New Roman" pitchFamily="18" charset="0"/>
                <a:cs typeface="Times New Roman" pitchFamily="18" charset="0"/>
              </a:rPr>
              <a:t>The time series data was </a:t>
            </a:r>
            <a:r>
              <a:rPr lang="en-US" sz="2000" dirty="0" err="1">
                <a:latin typeface="Times New Roman" pitchFamily="18" charset="0"/>
                <a:cs typeface="Times New Roman" pitchFamily="18" charset="0"/>
              </a:rPr>
              <a:t>detrended</a:t>
            </a:r>
            <a:r>
              <a:rPr lang="en-US" sz="2000" dirty="0">
                <a:latin typeface="Times New Roman" pitchFamily="18" charset="0"/>
                <a:cs typeface="Times New Roman" pitchFamily="18" charset="0"/>
              </a:rPr>
              <a:t> using </a:t>
            </a:r>
            <a:r>
              <a:rPr lang="en-US" sz="2000" dirty="0" smtClean="0">
                <a:latin typeface="Times New Roman" pitchFamily="18" charset="0"/>
                <a:cs typeface="Times New Roman" pitchFamily="18" charset="0"/>
              </a:rPr>
              <a:t>the </a:t>
            </a:r>
            <a:r>
              <a:rPr lang="en-US" sz="2000" b="1" dirty="0" err="1" smtClean="0">
                <a:latin typeface="Times New Roman" pitchFamily="18" charset="0"/>
                <a:cs typeface="Times New Roman" pitchFamily="18" charset="0"/>
              </a:rPr>
              <a:t>Hodrick</a:t>
            </a:r>
            <a:r>
              <a:rPr lang="en-US" sz="2000" b="1"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and Prescott filter </a:t>
            </a:r>
            <a:r>
              <a:rPr lang="en-US" sz="2000" dirty="0">
                <a:latin typeface="Times New Roman" pitchFamily="18" charset="0"/>
                <a:cs typeface="Times New Roman" pitchFamily="18" charset="0"/>
              </a:rPr>
              <a:t>to obtain cyclical residual </a:t>
            </a:r>
            <a:r>
              <a:rPr lang="en-US" sz="2000" dirty="0" smtClean="0">
                <a:latin typeface="Times New Roman" pitchFamily="18" charset="0"/>
                <a:cs typeface="Times New Roman" pitchFamily="18" charset="0"/>
              </a:rPr>
              <a:t>component (periodic </a:t>
            </a:r>
            <a:r>
              <a:rPr lang="en-US" sz="2000" dirty="0">
                <a:latin typeface="Times New Roman" pitchFamily="18" charset="0"/>
                <a:cs typeface="Times New Roman" pitchFamily="18" charset="0"/>
              </a:rPr>
              <a:t>component</a:t>
            </a:r>
            <a:r>
              <a:rPr lang="en-US" sz="2000" dirty="0" smtClean="0">
                <a:latin typeface="Times New Roman" pitchFamily="18" charset="0"/>
                <a:cs typeface="Times New Roman" pitchFamily="18" charset="0"/>
              </a:rPr>
              <a:t>) and trend component. </a:t>
            </a:r>
            <a:r>
              <a:rPr lang="en-US" sz="2000" dirty="0">
                <a:latin typeface="Times New Roman" pitchFamily="18" charset="0"/>
                <a:cs typeface="Times New Roman" pitchFamily="18" charset="0"/>
              </a:rPr>
              <a:t>Actually this filter separates </a:t>
            </a:r>
            <a:r>
              <a:rPr lang="en-US" sz="2000" dirty="0" smtClean="0">
                <a:latin typeface="Times New Roman" pitchFamily="18" charset="0"/>
                <a:cs typeface="Times New Roman" pitchFamily="18" charset="0"/>
              </a:rPr>
              <a:t>a time </a:t>
            </a:r>
            <a:r>
              <a:rPr lang="en-US" sz="2000" dirty="0">
                <a:latin typeface="Times New Roman" pitchFamily="18" charset="0"/>
                <a:cs typeface="Times New Roman" pitchFamily="18" charset="0"/>
              </a:rPr>
              <a:t>series into trend and cyclical </a:t>
            </a:r>
            <a:r>
              <a:rPr lang="en-US" sz="2000" dirty="0" smtClean="0">
                <a:latin typeface="Times New Roman" pitchFamily="18" charset="0"/>
                <a:cs typeface="Times New Roman" pitchFamily="18" charset="0"/>
              </a:rPr>
              <a:t>components.</a:t>
            </a:r>
            <a:endParaRPr lang="en-IN"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Here </a:t>
            </a:r>
            <a:r>
              <a:rPr lang="en-IN" sz="2000" dirty="0">
                <a:latin typeface="Times New Roman" pitchFamily="18" charset="0"/>
                <a:cs typeface="Times New Roman" pitchFamily="18" charset="0"/>
              </a:rPr>
              <a:t>in </a:t>
            </a:r>
            <a:r>
              <a:rPr lang="en-IN"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present </a:t>
            </a:r>
            <a:r>
              <a:rPr lang="en-US" sz="2000" dirty="0">
                <a:latin typeface="Times New Roman" pitchFamily="18" charset="0"/>
                <a:cs typeface="Times New Roman" pitchFamily="18" charset="0"/>
              </a:rPr>
              <a:t>analysis, we were concerned with the cyclical </a:t>
            </a:r>
            <a:r>
              <a:rPr lang="en-US" sz="2000" dirty="0" smtClean="0">
                <a:latin typeface="Times New Roman" pitchFamily="18" charset="0"/>
                <a:cs typeface="Times New Roman" pitchFamily="18" charset="0"/>
              </a:rPr>
              <a:t>component for </a:t>
            </a:r>
            <a:r>
              <a:rPr lang="en-US" sz="2000" dirty="0">
                <a:latin typeface="Times New Roman" pitchFamily="18" charset="0"/>
                <a:cs typeface="Times New Roman" pitchFamily="18" charset="0"/>
              </a:rPr>
              <a:t>analysis of persistence because it provided </a:t>
            </a:r>
            <a:r>
              <a:rPr lang="en-US" sz="2000" dirty="0" smtClean="0">
                <a:latin typeface="Times New Roman" pitchFamily="18" charset="0"/>
                <a:cs typeface="Times New Roman" pitchFamily="18" charset="0"/>
              </a:rPr>
              <a:t>better understanding </a:t>
            </a:r>
            <a:r>
              <a:rPr lang="en-US" sz="2000" dirty="0">
                <a:latin typeface="Times New Roman" pitchFamily="18" charset="0"/>
                <a:cs typeface="Times New Roman" pitchFamily="18" charset="0"/>
              </a:rPr>
              <a:t>of persistence in the time series </a:t>
            </a:r>
            <a:r>
              <a:rPr lang="en-US" sz="2000" dirty="0" smtClean="0">
                <a:latin typeface="Times New Roman" pitchFamily="18" charset="0"/>
                <a:cs typeface="Times New Roman" pitchFamily="18" charset="0"/>
              </a:rPr>
              <a:t>and </a:t>
            </a:r>
            <a:r>
              <a:rPr lang="en-US" sz="2000" dirty="0">
                <a:latin typeface="Times New Roman" pitchFamily="18" charset="0"/>
                <a:cs typeface="Times New Roman" pitchFamily="18" charset="0"/>
              </a:rPr>
              <a:t>the </a:t>
            </a:r>
            <a:r>
              <a:rPr lang="en-US" sz="2000" dirty="0" smtClean="0">
                <a:latin typeface="Times New Roman" pitchFamily="18" charset="0"/>
                <a:cs typeface="Times New Roman" pitchFamily="18" charset="0"/>
              </a:rPr>
              <a:t>trend component </a:t>
            </a:r>
            <a:r>
              <a:rPr lang="en-US" sz="2000" dirty="0">
                <a:latin typeface="Times New Roman" pitchFamily="18" charset="0"/>
                <a:cs typeface="Times New Roman" pitchFamily="18" charset="0"/>
              </a:rPr>
              <a:t>was used for prediction part</a:t>
            </a:r>
            <a:r>
              <a:rPr lang="en-US" sz="2000" dirty="0" smtClean="0">
                <a:latin typeface="Times New Roman" pitchFamily="18" charset="0"/>
                <a:cs typeface="Times New Roman" pitchFamily="18" charset="0"/>
              </a:rPr>
              <a:t>. Therefore </a:t>
            </a:r>
            <a:r>
              <a:rPr lang="en-US" sz="2000" b="1" dirty="0" smtClean="0">
                <a:latin typeface="Times New Roman" pitchFamily="18" charset="0"/>
                <a:cs typeface="Times New Roman" pitchFamily="18" charset="0"/>
              </a:rPr>
              <a:t>Rescaled range analysis </a:t>
            </a:r>
            <a:r>
              <a:rPr lang="en-US" sz="2000" dirty="0" smtClean="0">
                <a:latin typeface="Times New Roman" pitchFamily="18" charset="0"/>
                <a:cs typeface="Times New Roman" pitchFamily="18" charset="0"/>
              </a:rPr>
              <a:t>was used to evaluated the level of persistence for each parameter.</a:t>
            </a:r>
          </a:p>
          <a:p>
            <a:endParaRPr lang="en-IN"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Further </a:t>
            </a:r>
            <a:r>
              <a:rPr lang="en-IN" sz="2000" dirty="0">
                <a:latin typeface="Times New Roman" pitchFamily="18" charset="0"/>
                <a:cs typeface="Times New Roman" pitchFamily="18" charset="0"/>
              </a:rPr>
              <a:t>the </a:t>
            </a:r>
            <a:r>
              <a:rPr lang="en-IN" sz="2000" b="1" dirty="0" smtClean="0">
                <a:latin typeface="Times New Roman" pitchFamily="18" charset="0"/>
                <a:cs typeface="Times New Roman" pitchFamily="18" charset="0"/>
              </a:rPr>
              <a:t>simplex </a:t>
            </a:r>
            <a:r>
              <a:rPr lang="en-US" sz="2000" b="1" dirty="0" smtClean="0">
                <a:latin typeface="Times New Roman" pitchFamily="18" charset="0"/>
                <a:cs typeface="Times New Roman" pitchFamily="18" charset="0"/>
              </a:rPr>
              <a:t>projection </a:t>
            </a:r>
            <a:r>
              <a:rPr lang="en-US" sz="2000" b="1" dirty="0">
                <a:latin typeface="Times New Roman" pitchFamily="18" charset="0"/>
                <a:cs typeface="Times New Roman" pitchFamily="18" charset="0"/>
              </a:rPr>
              <a:t>method </a:t>
            </a:r>
            <a:r>
              <a:rPr lang="en-US" sz="2000" dirty="0">
                <a:latin typeface="Times New Roman" pitchFamily="18" charset="0"/>
                <a:cs typeface="Times New Roman" pitchFamily="18" charset="0"/>
              </a:rPr>
              <a:t>was applied on the trend data to </a:t>
            </a:r>
            <a:r>
              <a:rPr lang="en-US" sz="2000" dirty="0" smtClean="0">
                <a:latin typeface="Times New Roman" pitchFamily="18" charset="0"/>
                <a:cs typeface="Times New Roman" pitchFamily="18" charset="0"/>
              </a:rPr>
              <a:t>obtain future </a:t>
            </a:r>
            <a:r>
              <a:rPr lang="en-US" sz="2000" dirty="0">
                <a:latin typeface="Times New Roman" pitchFamily="18" charset="0"/>
                <a:cs typeface="Times New Roman" pitchFamily="18" charset="0"/>
              </a:rPr>
              <a:t>points of various solar parameters of time series </a:t>
            </a:r>
            <a:r>
              <a:rPr lang="en-US" sz="2000" dirty="0" smtClean="0">
                <a:latin typeface="Times New Roman" pitchFamily="18" charset="0"/>
                <a:cs typeface="Times New Roman" pitchFamily="18" charset="0"/>
              </a:rPr>
              <a:t>data and </a:t>
            </a:r>
            <a:r>
              <a:rPr lang="en-US" sz="2000" dirty="0">
                <a:latin typeface="Times New Roman" pitchFamily="18" charset="0"/>
                <a:cs typeface="Times New Roman" pitchFamily="18" charset="0"/>
              </a:rPr>
              <a:t>prediction was made with greater accuracy.</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39652620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944562"/>
          </a:xfrm>
        </p:spPr>
        <p:txBody>
          <a:bodyPr>
            <a:normAutofit/>
          </a:bodyPr>
          <a:lstStyle/>
          <a:p>
            <a:r>
              <a:rPr lang="en-US" sz="2800" b="1" dirty="0" err="1">
                <a:solidFill>
                  <a:schemeClr val="accent1">
                    <a:lumMod val="75000"/>
                  </a:schemeClr>
                </a:solidFill>
                <a:latin typeface="Times New Roman" pitchFamily="18" charset="0"/>
                <a:cs typeface="Times New Roman" pitchFamily="18" charset="0"/>
              </a:rPr>
              <a:t>Hodrick</a:t>
            </a:r>
            <a:r>
              <a:rPr lang="en-US" sz="2800" b="1" dirty="0">
                <a:solidFill>
                  <a:schemeClr val="accent1">
                    <a:lumMod val="75000"/>
                  </a:schemeClr>
                </a:solidFill>
                <a:latin typeface="Times New Roman" pitchFamily="18" charset="0"/>
                <a:cs typeface="Times New Roman" pitchFamily="18" charset="0"/>
              </a:rPr>
              <a:t> and Prescott </a:t>
            </a:r>
            <a:r>
              <a:rPr lang="en-US" sz="2800" b="1" dirty="0" smtClean="0">
                <a:solidFill>
                  <a:schemeClr val="accent1">
                    <a:lumMod val="75000"/>
                  </a:schemeClr>
                </a:solidFill>
                <a:latin typeface="Times New Roman" pitchFamily="18" charset="0"/>
                <a:cs typeface="Times New Roman" pitchFamily="18" charset="0"/>
              </a:rPr>
              <a:t>filter</a:t>
            </a:r>
            <a:endParaRPr lang="en-IN" sz="2800" b="1" dirty="0">
              <a:solidFill>
                <a:schemeClr val="accent1">
                  <a:lumMod val="75000"/>
                </a:schemeClr>
              </a:solidFill>
              <a:latin typeface="Times New Roman" pitchFamily="18" charset="0"/>
              <a:cs typeface="Times New Roman" pitchFamily="18" charset="0"/>
            </a:endParaRPr>
          </a:p>
        </p:txBody>
      </p:sp>
      <mc:AlternateContent xmlns:mc="http://schemas.openxmlformats.org/markup-compatibility/2006">
        <mc:Choice xmlns:a14="http://schemas.microsoft.com/office/drawing/2010/main" xmlns="" Requires="a14">
          <p:sp>
            <p:nvSpPr>
              <p:cNvPr id="3" name="Content Placeholder 2"/>
              <p:cNvSpPr>
                <a:spLocks noGrp="1"/>
              </p:cNvSpPr>
              <p:nvPr>
                <p:ph sz="quarter" idx="1"/>
              </p:nvPr>
            </p:nvSpPr>
            <p:spPr>
              <a:xfrm>
                <a:off x="457200" y="1371600"/>
                <a:ext cx="8229600" cy="5102352"/>
              </a:xfrm>
            </p:spPr>
            <p:txBody>
              <a:bodyPr>
                <a:normAutofit/>
              </a:bodyPr>
              <a:lstStyle/>
              <a:p>
                <a:pPr algn="just"/>
                <a:r>
                  <a:rPr lang="en-US" sz="2000" dirty="0" smtClean="0">
                    <a:latin typeface="Times New Roman" pitchFamily="18" charset="0"/>
                    <a:cs typeface="Times New Roman" pitchFamily="18" charset="0"/>
                  </a:rPr>
                  <a:t>Hodrick</a:t>
                </a:r>
                <a:r>
                  <a:rPr lang="en-US" sz="2000" dirty="0">
                    <a:latin typeface="Times New Roman" pitchFamily="18" charset="0"/>
                    <a:cs typeface="Times New Roman" pitchFamily="18" charset="0"/>
                  </a:rPr>
                  <a:t> and Prescott (1980) proposed the HP filter to </a:t>
                </a:r>
                <a:r>
                  <a:rPr lang="en-US" sz="2000" dirty="0" smtClean="0">
                    <a:latin typeface="Times New Roman" pitchFamily="18" charset="0"/>
                    <a:cs typeface="Times New Roman" pitchFamily="18" charset="0"/>
                  </a:rPr>
                  <a:t>decompose a </a:t>
                </a:r>
                <a:r>
                  <a:rPr lang="en-US" sz="2000" dirty="0">
                    <a:latin typeface="Times New Roman" pitchFamily="18" charset="0"/>
                    <a:cs typeface="Times New Roman" pitchFamily="18" charset="0"/>
                  </a:rPr>
                  <a:t>time series into a non-stationary trend </a:t>
                </a:r>
                <a:r>
                  <a:rPr lang="en-US" sz="2000" dirty="0" smtClean="0">
                    <a:latin typeface="Times New Roman" pitchFamily="18" charset="0"/>
                    <a:cs typeface="Times New Roman" pitchFamily="18" charset="0"/>
                  </a:rPr>
                  <a:t>component and </a:t>
                </a:r>
                <a:r>
                  <a:rPr lang="en-US" sz="2000" dirty="0">
                    <a:latin typeface="Times New Roman" pitchFamily="18" charset="0"/>
                    <a:cs typeface="Times New Roman" pitchFamily="18" charset="0"/>
                  </a:rPr>
                  <a:t>a stationary cyclical residual component</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However, </a:t>
                </a:r>
                <a:r>
                  <a:rPr lang="en-IN" sz="2000" dirty="0" smtClean="0">
                    <a:latin typeface="Times New Roman" pitchFamily="18" charset="0"/>
                    <a:cs typeface="Times New Roman" pitchFamily="18" charset="0"/>
                  </a:rPr>
                  <a:t>our </a:t>
                </a:r>
                <a:r>
                  <a:rPr lang="en-US" sz="2000" dirty="0" smtClean="0">
                    <a:latin typeface="Times New Roman" pitchFamily="18" charset="0"/>
                    <a:cs typeface="Times New Roman" pitchFamily="18" charset="0"/>
                  </a:rPr>
                  <a:t>concern </a:t>
                </a:r>
                <a:r>
                  <a:rPr lang="en-US" sz="2000" dirty="0">
                    <a:latin typeface="Times New Roman" pitchFamily="18" charset="0"/>
                    <a:cs typeface="Times New Roman" pitchFamily="18" charset="0"/>
                  </a:rPr>
                  <a:t>in this paper is with cyclical as well as trend </a:t>
                </a:r>
                <a:r>
                  <a:rPr lang="en-US" sz="2000" dirty="0" smtClean="0">
                    <a:latin typeface="Times New Roman" pitchFamily="18" charset="0"/>
                    <a:cs typeface="Times New Roman" pitchFamily="18" charset="0"/>
                  </a:rPr>
                  <a:t>component estimation </a:t>
                </a:r>
                <a:r>
                  <a:rPr lang="en-US" sz="2000" dirty="0">
                    <a:latin typeface="Times New Roman" pitchFamily="18" charset="0"/>
                    <a:cs typeface="Times New Roman" pitchFamily="18" charset="0"/>
                  </a:rPr>
                  <a:t>for the </a:t>
                </a:r>
                <a:r>
                  <a:rPr lang="en-US" sz="2000" dirty="0" smtClean="0">
                    <a:latin typeface="Times New Roman" pitchFamily="18" charset="0"/>
                    <a:cs typeface="Times New Roman" pitchFamily="18" charset="0"/>
                  </a:rPr>
                  <a:t>most </a:t>
                </a:r>
                <a:r>
                  <a:rPr lang="en-US" sz="2000" dirty="0">
                    <a:latin typeface="Times New Roman" pitchFamily="18" charset="0"/>
                    <a:cs typeface="Times New Roman" pitchFamily="18" charset="0"/>
                  </a:rPr>
                  <a:t>recent data of solar parameters</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a:t>
                </a:r>
                <a:r>
                  <a:rPr lang="en-US" sz="2000" dirty="0" err="1">
                    <a:latin typeface="Times New Roman" pitchFamily="18" charset="0"/>
                    <a:cs typeface="Times New Roman" pitchFamily="18" charset="0"/>
                  </a:rPr>
                  <a:t>Hodrick</a:t>
                </a:r>
                <a:r>
                  <a:rPr lang="en-US" sz="2000" dirty="0">
                    <a:latin typeface="Times New Roman" pitchFamily="18" charset="0"/>
                    <a:cs typeface="Times New Roman" pitchFamily="18" charset="0"/>
                  </a:rPr>
                  <a:t> and Prescott filter separates a time </a:t>
                </a:r>
                <a:r>
                  <a:rPr lang="en-US" sz="2000" dirty="0" smtClean="0">
                    <a:latin typeface="Times New Roman" pitchFamily="18" charset="0"/>
                    <a:cs typeface="Times New Roman" pitchFamily="18" charset="0"/>
                  </a:rPr>
                  <a:t>series into </a:t>
                </a:r>
                <a:r>
                  <a:rPr lang="en-US" sz="2000" dirty="0">
                    <a:latin typeface="Times New Roman" pitchFamily="18" charset="0"/>
                    <a:cs typeface="Times New Roman" pitchFamily="18" charset="0"/>
                  </a:rPr>
                  <a:t>growth and cyclical components </a:t>
                </a:r>
                <a:r>
                  <a:rPr lang="en-US" sz="2000" dirty="0" smtClean="0">
                    <a:latin typeface="Times New Roman" pitchFamily="18" charset="0"/>
                    <a:cs typeface="Times New Roman" pitchFamily="18" charset="0"/>
                  </a:rPr>
                  <a:t>with </a:t>
                </a:r>
                <a14:m>
                  <m:oMath xmlns:m="http://schemas.openxmlformats.org/officeDocument/2006/math">
                    <m:sSub>
                      <m:sSubPr>
                        <m:ctrlPr>
                          <a:rPr lang="en-US" sz="2000" i="1" smtClean="0">
                            <a:latin typeface="Cambria Math"/>
                            <a:cs typeface="Times New Roman" pitchFamily="18" charset="0"/>
                          </a:rPr>
                        </m:ctrlPr>
                      </m:sSubPr>
                      <m:e>
                        <m:r>
                          <a:rPr lang="en-IN" sz="2000" b="0" i="1" smtClean="0">
                            <a:latin typeface="Cambria Math"/>
                            <a:cs typeface="Times New Roman" pitchFamily="18" charset="0"/>
                          </a:rPr>
                          <m:t>𝑦</m:t>
                        </m:r>
                      </m:e>
                      <m:sub>
                        <m:r>
                          <a:rPr lang="en-IN" sz="2000" b="0" i="1" smtClean="0">
                            <a:latin typeface="Cambria Math"/>
                            <a:cs typeface="Times New Roman" pitchFamily="18" charset="0"/>
                          </a:rPr>
                          <m:t>𝑡</m:t>
                        </m:r>
                      </m:sub>
                    </m:sSub>
                    <m:r>
                      <a:rPr lang="en-IN" sz="2000" b="0" i="1" smtClean="0">
                        <a:latin typeface="Cambria Math"/>
                        <a:cs typeface="Times New Roman" pitchFamily="18" charset="0"/>
                      </a:rPr>
                      <m:t>=</m:t>
                    </m:r>
                    <m:sSub>
                      <m:sSubPr>
                        <m:ctrlPr>
                          <a:rPr lang="en-IN" sz="2000" b="0" i="1" smtClean="0">
                            <a:latin typeface="Cambria Math"/>
                            <a:cs typeface="Times New Roman" pitchFamily="18" charset="0"/>
                          </a:rPr>
                        </m:ctrlPr>
                      </m:sSubPr>
                      <m:e>
                        <m:r>
                          <a:rPr lang="en-IN" sz="2000" b="0" i="1" smtClean="0">
                            <a:latin typeface="Cambria Math"/>
                            <a:cs typeface="Times New Roman" pitchFamily="18" charset="0"/>
                          </a:rPr>
                          <m:t>𝑔</m:t>
                        </m:r>
                      </m:e>
                      <m:sub>
                        <m:r>
                          <a:rPr lang="en-IN" sz="2000" b="0" i="1" smtClean="0">
                            <a:latin typeface="Cambria Math"/>
                            <a:cs typeface="Times New Roman" pitchFamily="18" charset="0"/>
                          </a:rPr>
                          <m:t>𝑡</m:t>
                        </m:r>
                      </m:sub>
                    </m:sSub>
                    <m:r>
                      <a:rPr lang="en-IN" sz="2000" b="0" i="1" smtClean="0">
                        <a:latin typeface="Cambria Math"/>
                        <a:cs typeface="Times New Roman" pitchFamily="18" charset="0"/>
                      </a:rPr>
                      <m:t>+</m:t>
                    </m:r>
                    <m:sSub>
                      <m:sSubPr>
                        <m:ctrlPr>
                          <a:rPr lang="en-IN" sz="2000" b="0" i="1" smtClean="0">
                            <a:latin typeface="Cambria Math"/>
                            <a:cs typeface="Times New Roman" pitchFamily="18" charset="0"/>
                          </a:rPr>
                        </m:ctrlPr>
                      </m:sSubPr>
                      <m:e>
                        <m:r>
                          <a:rPr lang="en-IN" sz="2000" b="0" i="1" smtClean="0">
                            <a:latin typeface="Cambria Math"/>
                            <a:cs typeface="Times New Roman" pitchFamily="18" charset="0"/>
                          </a:rPr>
                          <m:t>𝑐</m:t>
                        </m:r>
                      </m:e>
                      <m:sub>
                        <m:r>
                          <a:rPr lang="en-IN" sz="2000" b="0" i="1" smtClean="0">
                            <a:latin typeface="Cambria Math"/>
                            <a:cs typeface="Times New Roman" pitchFamily="18" charset="0"/>
                          </a:rPr>
                          <m:t>𝑡</m:t>
                        </m:r>
                      </m:sub>
                    </m:sSub>
                    <m:r>
                      <a:rPr lang="en-IN" sz="2000" b="0" i="1" smtClean="0">
                        <a:latin typeface="Cambria Math"/>
                        <a:cs typeface="Times New Roman" pitchFamily="18" charset="0"/>
                      </a:rPr>
                      <m:t>+</m:t>
                    </m:r>
                    <m:sSub>
                      <m:sSubPr>
                        <m:ctrlPr>
                          <a:rPr lang="en-IN" sz="2000" b="0" i="1" smtClean="0">
                            <a:latin typeface="Cambria Math"/>
                            <a:cs typeface="Times New Roman" pitchFamily="18" charset="0"/>
                          </a:rPr>
                        </m:ctrlPr>
                      </m:sSubPr>
                      <m:e>
                        <m:r>
                          <m:rPr>
                            <m:sty m:val="p"/>
                          </m:rPr>
                          <a:rPr lang="el-GR" sz="2000" b="0" i="1" smtClean="0">
                            <a:latin typeface="Cambria Math"/>
                            <a:cs typeface="Times New Roman" pitchFamily="18" charset="0"/>
                          </a:rPr>
                          <m:t>ε</m:t>
                        </m:r>
                      </m:e>
                      <m:sub>
                        <m:r>
                          <a:rPr lang="en-IN" sz="2000" b="0" i="1" smtClean="0">
                            <a:latin typeface="Cambria Math"/>
                            <a:cs typeface="Times New Roman" pitchFamily="18" charset="0"/>
                          </a:rPr>
                          <m:t>𝑡</m:t>
                        </m:r>
                      </m:sub>
                    </m:sSub>
                  </m:oMath>
                </a14:m>
                <a:endParaRPr lang="en-US" sz="2000" dirty="0" smtClean="0">
                  <a:latin typeface="Times New Roman" pitchFamily="18" charset="0"/>
                  <a:cs typeface="Times New Roman" pitchFamily="18" charset="0"/>
                </a:endParaRPr>
              </a:p>
              <a:p>
                <a:pPr marL="0" indent="0" algn="just">
                  <a:buNone/>
                </a:pPr>
                <a:r>
                  <a:rPr lang="en-US" sz="2000" dirty="0" smtClean="0">
                    <a:latin typeface="Times New Roman" pitchFamily="18" charset="0"/>
                    <a:cs typeface="Times New Roman" pitchFamily="18" charset="0"/>
                  </a:rPr>
                  <a:t>where </a:t>
                </a:r>
                <a14:m>
                  <m:oMath xmlns:m="http://schemas.openxmlformats.org/officeDocument/2006/math">
                    <m:sSub>
                      <m:sSubPr>
                        <m:ctrlPr>
                          <a:rPr lang="en-US" sz="2000" i="1">
                            <a:latin typeface="Cambria Math"/>
                            <a:cs typeface="Times New Roman" pitchFamily="18" charset="0"/>
                          </a:rPr>
                        </m:ctrlPr>
                      </m:sSubPr>
                      <m:e>
                        <m:r>
                          <a:rPr lang="en-IN" sz="2000" i="1">
                            <a:latin typeface="Cambria Math"/>
                            <a:cs typeface="Times New Roman" pitchFamily="18" charset="0"/>
                          </a:rPr>
                          <m:t>𝑦</m:t>
                        </m:r>
                      </m:e>
                      <m:sub>
                        <m:r>
                          <a:rPr lang="en-IN" sz="2000" i="1">
                            <a:latin typeface="Cambria Math"/>
                            <a:cs typeface="Times New Roman" pitchFamily="18" charset="0"/>
                          </a:rPr>
                          <m:t>𝑡</m:t>
                        </m:r>
                      </m:sub>
                    </m:sSub>
                    <m:r>
                      <a:rPr lang="en-IN" sz="2000" i="1">
                        <a:latin typeface="Cambria Math"/>
                        <a:cs typeface="Times New Roman" pitchFamily="18" charset="0"/>
                      </a:rPr>
                      <m:t> </m:t>
                    </m:r>
                  </m:oMath>
                </a14:m>
                <a:r>
                  <a:rPr lang="en-US" sz="2000" dirty="0">
                    <a:latin typeface="Times New Roman" pitchFamily="18" charset="0"/>
                    <a:cs typeface="Times New Roman" pitchFamily="18" charset="0"/>
                  </a:rPr>
                  <a:t>is a time series, </a:t>
                </a:r>
                <a14:m>
                  <m:oMath xmlns:m="http://schemas.openxmlformats.org/officeDocument/2006/math">
                    <m:sSub>
                      <m:sSubPr>
                        <m:ctrlPr>
                          <a:rPr lang="en-IN" sz="2000" i="1">
                            <a:latin typeface="Cambria Math"/>
                            <a:cs typeface="Times New Roman" pitchFamily="18" charset="0"/>
                          </a:rPr>
                        </m:ctrlPr>
                      </m:sSubPr>
                      <m:e>
                        <m:r>
                          <a:rPr lang="en-IN" sz="2000" i="1">
                            <a:latin typeface="Cambria Math"/>
                            <a:cs typeface="Times New Roman" pitchFamily="18" charset="0"/>
                          </a:rPr>
                          <m:t>𝑔</m:t>
                        </m:r>
                      </m:e>
                      <m:sub>
                        <m:r>
                          <a:rPr lang="en-IN" sz="2000" i="1">
                            <a:latin typeface="Cambria Math"/>
                            <a:cs typeface="Times New Roman" pitchFamily="18" charset="0"/>
                          </a:rPr>
                          <m:t>𝑡</m:t>
                        </m:r>
                      </m:sub>
                    </m:sSub>
                  </m:oMath>
                </a14:m>
                <a:r>
                  <a:rPr lang="en-US" sz="2000" dirty="0">
                    <a:latin typeface="Times New Roman" pitchFamily="18" charset="0"/>
                    <a:cs typeface="Times New Roman" pitchFamily="18" charset="0"/>
                  </a:rPr>
                  <a:t>is the growth component of </a:t>
                </a:r>
                <a14:m>
                  <m:oMath xmlns:m="http://schemas.openxmlformats.org/officeDocument/2006/math">
                    <m:sSub>
                      <m:sSubPr>
                        <m:ctrlPr>
                          <a:rPr lang="en-US" sz="2000" i="1">
                            <a:latin typeface="Cambria Math"/>
                            <a:cs typeface="Times New Roman" pitchFamily="18" charset="0"/>
                          </a:rPr>
                        </m:ctrlPr>
                      </m:sSubPr>
                      <m:e>
                        <m:r>
                          <a:rPr lang="en-IN" sz="2000" i="1">
                            <a:latin typeface="Cambria Math"/>
                            <a:cs typeface="Times New Roman" pitchFamily="18" charset="0"/>
                          </a:rPr>
                          <m:t>𝑦</m:t>
                        </m:r>
                      </m:e>
                      <m:sub>
                        <m:r>
                          <a:rPr lang="en-IN" sz="2000" i="1">
                            <a:latin typeface="Cambria Math"/>
                            <a:cs typeface="Times New Roman" pitchFamily="18" charset="0"/>
                          </a:rPr>
                          <m:t>𝑡</m:t>
                        </m:r>
                      </m:sub>
                    </m:sSub>
                  </m:oMath>
                </a14:m>
                <a:r>
                  <a:rPr lang="en-US" sz="2000" dirty="0" smtClean="0">
                    <a:latin typeface="Times New Roman" pitchFamily="18" charset="0"/>
                    <a:cs typeface="Times New Roman" pitchFamily="18" charset="0"/>
                  </a:rPr>
                  <a:t>,</a:t>
                </a:r>
                <a14:m>
                  <m:oMath xmlns:m="http://schemas.openxmlformats.org/officeDocument/2006/math">
                    <m:sSub>
                      <m:sSubPr>
                        <m:ctrlPr>
                          <a:rPr lang="en-IN" sz="2000" i="1">
                            <a:latin typeface="Cambria Math"/>
                            <a:cs typeface="Times New Roman" pitchFamily="18" charset="0"/>
                          </a:rPr>
                        </m:ctrlPr>
                      </m:sSubPr>
                      <m:e>
                        <m:r>
                          <a:rPr lang="en-IN" sz="2000" i="1">
                            <a:latin typeface="Cambria Math"/>
                            <a:cs typeface="Times New Roman" pitchFamily="18" charset="0"/>
                          </a:rPr>
                          <m:t>𝑐</m:t>
                        </m:r>
                      </m:e>
                      <m:sub>
                        <m:r>
                          <a:rPr lang="en-IN" sz="2000" i="1">
                            <a:latin typeface="Cambria Math"/>
                            <a:cs typeface="Times New Roman" pitchFamily="18" charset="0"/>
                          </a:rPr>
                          <m:t>𝑡</m:t>
                        </m:r>
                      </m:sub>
                    </m:sSub>
                  </m:oMath>
                </a14:m>
                <a:r>
                  <a:rPr lang="en-US" sz="2000" dirty="0">
                    <a:latin typeface="Times New Roman" pitchFamily="18" charset="0"/>
                    <a:cs typeface="Times New Roman" pitchFamily="18" charset="0"/>
                  </a:rPr>
                  <a:t>is the cyclical </a:t>
                </a:r>
                <a:r>
                  <a:rPr lang="en-US" sz="2000" dirty="0" smtClean="0">
                    <a:latin typeface="Times New Roman" pitchFamily="18" charset="0"/>
                    <a:cs typeface="Times New Roman" pitchFamily="18" charset="0"/>
                  </a:rPr>
                  <a:t>component </a:t>
                </a:r>
                <a:r>
                  <a:rPr lang="en-US" sz="2000" dirty="0">
                    <a:latin typeface="Times New Roman" pitchFamily="18" charset="0"/>
                    <a:cs typeface="Times New Roman" pitchFamily="18" charset="0"/>
                  </a:rPr>
                  <a:t>and </a:t>
                </a:r>
                <a14:m>
                  <m:oMath xmlns:m="http://schemas.openxmlformats.org/officeDocument/2006/math">
                    <m:sSub>
                      <m:sSubPr>
                        <m:ctrlPr>
                          <a:rPr lang="en-IN" sz="2000" i="1">
                            <a:latin typeface="Cambria Math"/>
                            <a:cs typeface="Times New Roman" pitchFamily="18" charset="0"/>
                          </a:rPr>
                        </m:ctrlPr>
                      </m:sSubPr>
                      <m:e>
                        <m:r>
                          <m:rPr>
                            <m:sty m:val="p"/>
                          </m:rPr>
                          <a:rPr lang="el-GR" sz="2000" i="1">
                            <a:latin typeface="Cambria Math"/>
                            <a:cs typeface="Times New Roman" pitchFamily="18" charset="0"/>
                          </a:rPr>
                          <m:t>ε</m:t>
                        </m:r>
                      </m:e>
                      <m:sub>
                        <m:r>
                          <a:rPr lang="en-IN" sz="2000" i="1">
                            <a:latin typeface="Cambria Math"/>
                            <a:cs typeface="Times New Roman" pitchFamily="18" charset="0"/>
                          </a:rPr>
                          <m:t>𝑡</m:t>
                        </m:r>
                      </m:sub>
                    </m:sSub>
                  </m:oMath>
                </a14:m>
                <a:r>
                  <a:rPr lang="en-US" sz="2000" dirty="0">
                    <a:latin typeface="Times New Roman" pitchFamily="18" charset="0"/>
                    <a:cs typeface="Times New Roman" pitchFamily="18" charset="0"/>
                  </a:rPr>
                  <a:t>is the error </a:t>
                </a:r>
                <a:r>
                  <a:rPr lang="en-US" sz="2000" dirty="0" smtClean="0">
                    <a:latin typeface="Times New Roman" pitchFamily="18" charset="0"/>
                    <a:cs typeface="Times New Roman" pitchFamily="18" charset="0"/>
                  </a:rPr>
                  <a:t>component of </a:t>
                </a:r>
                <a14:m>
                  <m:oMath xmlns:m="http://schemas.openxmlformats.org/officeDocument/2006/math">
                    <m:sSub>
                      <m:sSubPr>
                        <m:ctrlPr>
                          <a:rPr lang="en-US" sz="2000" i="1">
                            <a:latin typeface="Cambria Math"/>
                            <a:cs typeface="Times New Roman" pitchFamily="18" charset="0"/>
                          </a:rPr>
                        </m:ctrlPr>
                      </m:sSubPr>
                      <m:e>
                        <m:r>
                          <a:rPr lang="en-IN" sz="2000" i="1">
                            <a:latin typeface="Cambria Math"/>
                            <a:cs typeface="Times New Roman" pitchFamily="18" charset="0"/>
                          </a:rPr>
                          <m:t>𝑦</m:t>
                        </m:r>
                      </m:e>
                      <m:sub>
                        <m:r>
                          <a:rPr lang="en-IN" sz="2000" i="1">
                            <a:latin typeface="Cambria Math"/>
                            <a:cs typeface="Times New Roman" pitchFamily="18" charset="0"/>
                          </a:rPr>
                          <m:t>𝑡</m:t>
                        </m:r>
                      </m:sub>
                    </m:sSub>
                  </m:oMath>
                </a14:m>
                <a:r>
                  <a:rPr lang="en-US" sz="2000" dirty="0">
                    <a:latin typeface="Times New Roman" pitchFamily="18" charset="0"/>
                    <a:cs typeface="Times New Roman" pitchFamily="18" charset="0"/>
                  </a:rPr>
                  <a:t>for </a:t>
                </a:r>
                <a:r>
                  <a:rPr lang="en-US" sz="2000" i="1" dirty="0">
                    <a:latin typeface="Times New Roman" pitchFamily="18" charset="0"/>
                    <a:cs typeface="Times New Roman" pitchFamily="18" charset="0"/>
                  </a:rPr>
                  <a:t>t </a:t>
                </a:r>
                <a:r>
                  <a:rPr lang="en-US" sz="2000" dirty="0">
                    <a:latin typeface="Times New Roman" pitchFamily="18" charset="0"/>
                    <a:cs typeface="Times New Roman" pitchFamily="18" charset="0"/>
                  </a:rPr>
                  <a:t>= 1</a:t>
                </a:r>
                <a:r>
                  <a:rPr lang="en-US" sz="2000" i="1" dirty="0">
                    <a:latin typeface="Times New Roman" pitchFamily="18" charset="0"/>
                    <a:cs typeface="Times New Roman" pitchFamily="18" charset="0"/>
                  </a:rPr>
                  <a:t>, </a:t>
                </a:r>
                <a:r>
                  <a:rPr lang="en-US" sz="2000" dirty="0">
                    <a:latin typeface="Times New Roman" pitchFamily="18" charset="0"/>
                    <a:cs typeface="Times New Roman" pitchFamily="18" charset="0"/>
                  </a:rPr>
                  <a:t>2</a:t>
                </a:r>
                <a:r>
                  <a:rPr lang="en-US" sz="2000" i="1" dirty="0">
                    <a:latin typeface="Times New Roman" pitchFamily="18" charset="0"/>
                    <a:cs typeface="Times New Roman" pitchFamily="18" charset="0"/>
                  </a:rPr>
                  <a:t>, </a:t>
                </a:r>
                <a:r>
                  <a:rPr lang="en-US" sz="2000" dirty="0">
                    <a:latin typeface="Times New Roman" pitchFamily="18" charset="0"/>
                    <a:cs typeface="Times New Roman" pitchFamily="18" charset="0"/>
                  </a:rPr>
                  <a:t>3</a:t>
                </a:r>
                <a:r>
                  <a:rPr lang="en-US" sz="2000" i="1" dirty="0">
                    <a:latin typeface="Times New Roman" pitchFamily="18" charset="0"/>
                    <a:cs typeface="Times New Roman" pitchFamily="18" charset="0"/>
                  </a:rPr>
                  <a:t>, . . . , </a:t>
                </a:r>
                <a:r>
                  <a:rPr lang="en-US" sz="2000" i="1" dirty="0" smtClean="0">
                    <a:latin typeface="Times New Roman" pitchFamily="18" charset="0"/>
                    <a:cs typeface="Times New Roman" pitchFamily="18" charset="0"/>
                  </a:rPr>
                  <a:t>T.</a:t>
                </a:r>
              </a:p>
              <a:p>
                <a:pPr marL="0" indent="0" algn="just">
                  <a:buNone/>
                </a:pPr>
                <a:endParaRPr lang="en-US" sz="2000" dirty="0" smtClean="0">
                  <a:latin typeface="Times New Roman" pitchFamily="18" charset="0"/>
                  <a:cs typeface="Times New Roman" pitchFamily="18" charset="0"/>
                </a:endParaRPr>
              </a:p>
              <a:p>
                <a:pPr marL="0" indent="0" algn="just">
                  <a:buNone/>
                </a:pPr>
                <a:r>
                  <a:rPr lang="en-US" sz="2000" dirty="0" smtClean="0">
                    <a:latin typeface="Times New Roman" pitchFamily="18" charset="0"/>
                    <a:cs typeface="Times New Roman" pitchFamily="18" charset="0"/>
                  </a:rPr>
                  <a:t>   We have applied this filter on the parameters shown in figure 1 and obtained  results are depicted in fig.2 and fig.3</a:t>
                </a:r>
              </a:p>
              <a:p>
                <a:pPr marL="0" indent="0" algn="just">
                  <a:buNone/>
                </a:pPr>
                <a:endParaRPr lang="en-IN" sz="2000" dirty="0">
                  <a:latin typeface="Times New Roman" pitchFamily="18" charset="0"/>
                  <a:cs typeface="Times New Roman"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xfrm>
                <a:off x="457200" y="1371600"/>
                <a:ext cx="8229600" cy="5102352"/>
              </a:xfrm>
              <a:blipFill rotWithShape="1">
                <a:blip r:embed="rId2"/>
                <a:stretch>
                  <a:fillRect l="-741" t="-597" r="-741"/>
                </a:stretch>
              </a:blipFill>
            </p:spPr>
            <p:txBody>
              <a:bodyPr/>
              <a:lstStyle/>
              <a:p>
                <a:r>
                  <a:rPr lang="en-IN">
                    <a:noFill/>
                  </a:rPr>
                  <a:t> </a:t>
                </a:r>
              </a:p>
            </p:txBody>
          </p:sp>
        </mc:Fallback>
      </mc:AlternateContent>
    </p:spTree>
    <p:extLst>
      <p:ext uri="{BB962C8B-B14F-4D97-AF65-F5344CB8AC3E}">
        <p14:creationId xmlns:p14="http://schemas.microsoft.com/office/powerpoint/2010/main" xmlns="" val="37834717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Asheesh\Desktop\PAPER_6_R1\PICs\Fig_2.bmp"/>
          <p:cNvPicPr/>
          <p:nvPr/>
        </p:nvPicPr>
        <p:blipFill>
          <a:blip r:embed="rId2">
            <a:extLst>
              <a:ext uri="{28A0092B-C50C-407E-A947-70E740481C1C}">
                <a14:useLocalDpi xmlns:a14="http://schemas.microsoft.com/office/drawing/2010/main" xmlns="" val="0"/>
              </a:ext>
            </a:extLst>
          </a:blip>
          <a:srcRect/>
          <a:stretch>
            <a:fillRect/>
          </a:stretch>
        </p:blipFill>
        <p:spPr bwMode="auto">
          <a:xfrm>
            <a:off x="3505200" y="133350"/>
            <a:ext cx="5257800" cy="5734050"/>
          </a:xfrm>
          <a:prstGeom prst="rect">
            <a:avLst/>
          </a:prstGeom>
          <a:noFill/>
          <a:ln>
            <a:noFill/>
          </a:ln>
        </p:spPr>
      </p:pic>
      <p:sp>
        <p:nvSpPr>
          <p:cNvPr id="5" name="TextBox 4"/>
          <p:cNvSpPr txBox="1"/>
          <p:nvPr/>
        </p:nvSpPr>
        <p:spPr>
          <a:xfrm>
            <a:off x="304800" y="381000"/>
            <a:ext cx="3124201" cy="1631216"/>
          </a:xfrm>
          <a:prstGeom prst="rect">
            <a:avLst/>
          </a:prstGeom>
          <a:noFill/>
        </p:spPr>
        <p:txBody>
          <a:bodyPr wrap="square" rtlCol="0">
            <a:spAutoFit/>
          </a:bodyPr>
          <a:lstStyle/>
          <a:p>
            <a:pPr algn="just"/>
            <a:r>
              <a:rPr lang="en-US" sz="2000" b="1" dirty="0">
                <a:latin typeface="Times New Roman" pitchFamily="18" charset="0"/>
                <a:cs typeface="Times New Roman" pitchFamily="18" charset="0"/>
              </a:rPr>
              <a:t>Fig. 2 </a:t>
            </a:r>
            <a:r>
              <a:rPr lang="en-US" sz="2000" dirty="0" err="1">
                <a:latin typeface="Times New Roman" pitchFamily="18" charset="0"/>
                <a:cs typeface="Times New Roman" pitchFamily="18" charset="0"/>
              </a:rPr>
              <a:t>Detrended</a:t>
            </a:r>
            <a:r>
              <a:rPr lang="en-US" sz="2000" dirty="0">
                <a:latin typeface="Times New Roman" pitchFamily="18" charset="0"/>
                <a:cs typeface="Times New Roman" pitchFamily="18" charset="0"/>
              </a:rPr>
              <a:t> variations (cyclic component) of sunspot </a:t>
            </a:r>
            <a:r>
              <a:rPr lang="en-US" sz="2000" dirty="0" smtClean="0">
                <a:latin typeface="Times New Roman" pitchFamily="18" charset="0"/>
                <a:cs typeface="Times New Roman" pitchFamily="18" charset="0"/>
              </a:rPr>
              <a:t>numbers, F10.7 </a:t>
            </a:r>
            <a:r>
              <a:rPr lang="en-US" sz="2000" dirty="0">
                <a:latin typeface="Times New Roman" pitchFamily="18" charset="0"/>
                <a:cs typeface="Times New Roman" pitchFamily="18" charset="0"/>
              </a:rPr>
              <a:t>cm index and Lyman alpha index from 1947 to 2017</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27600249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Asheesh\Desktop\PAPER_6_R1\PICs\Fig_3.bmp"/>
          <p:cNvPicPr/>
          <p:nvPr/>
        </p:nvPicPr>
        <p:blipFill>
          <a:blip r:embed="rId2">
            <a:extLst>
              <a:ext uri="{28A0092B-C50C-407E-A947-70E740481C1C}">
                <a14:useLocalDpi xmlns:a14="http://schemas.microsoft.com/office/drawing/2010/main" xmlns="" val="0"/>
              </a:ext>
            </a:extLst>
          </a:blip>
          <a:srcRect/>
          <a:stretch>
            <a:fillRect/>
          </a:stretch>
        </p:blipFill>
        <p:spPr bwMode="auto">
          <a:xfrm>
            <a:off x="4114800" y="96520"/>
            <a:ext cx="4952999" cy="5847080"/>
          </a:xfrm>
          <a:prstGeom prst="rect">
            <a:avLst/>
          </a:prstGeom>
          <a:noFill/>
          <a:ln>
            <a:noFill/>
          </a:ln>
        </p:spPr>
      </p:pic>
      <p:sp>
        <p:nvSpPr>
          <p:cNvPr id="5" name="TextBox 4"/>
          <p:cNvSpPr txBox="1"/>
          <p:nvPr/>
        </p:nvSpPr>
        <p:spPr>
          <a:xfrm>
            <a:off x="219076" y="533400"/>
            <a:ext cx="3657600" cy="1323439"/>
          </a:xfrm>
          <a:prstGeom prst="rect">
            <a:avLst/>
          </a:prstGeom>
          <a:noFill/>
        </p:spPr>
        <p:txBody>
          <a:bodyPr wrap="square" rtlCol="0">
            <a:spAutoFit/>
          </a:bodyPr>
          <a:lstStyle/>
          <a:p>
            <a:r>
              <a:rPr lang="en-US" b="1" dirty="0"/>
              <a:t>Fig. 3 </a:t>
            </a:r>
            <a:r>
              <a:rPr lang="en-US" sz="2000" dirty="0">
                <a:latin typeface="Times New Roman" pitchFamily="18" charset="0"/>
                <a:cs typeface="Times New Roman" pitchFamily="18" charset="0"/>
              </a:rPr>
              <a:t>The trend component of sunspot numbers, F10.7 cm index </a:t>
            </a:r>
            <a:r>
              <a:rPr lang="en-US" sz="2000" dirty="0" smtClean="0">
                <a:latin typeface="Times New Roman" pitchFamily="18" charset="0"/>
                <a:cs typeface="Times New Roman" pitchFamily="18" charset="0"/>
              </a:rPr>
              <a:t>and Lyman </a:t>
            </a:r>
            <a:r>
              <a:rPr lang="en-US" sz="2000" dirty="0">
                <a:latin typeface="Times New Roman" pitchFamily="18" charset="0"/>
                <a:cs typeface="Times New Roman" pitchFamily="18" charset="0"/>
              </a:rPr>
              <a:t>alpha index from 1947 to 2017</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12428926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a:bodyPr>
          <a:lstStyle/>
          <a:p>
            <a:r>
              <a:rPr lang="en-IN" sz="3200" b="1" dirty="0">
                <a:solidFill>
                  <a:schemeClr val="accent1">
                    <a:lumMod val="75000"/>
                  </a:schemeClr>
                </a:solidFill>
                <a:latin typeface="Times New Roman" pitchFamily="18" charset="0"/>
                <a:cs typeface="Times New Roman" pitchFamily="18" charset="0"/>
              </a:rPr>
              <a:t>the rescaled range analysis</a:t>
            </a:r>
          </a:p>
        </p:txBody>
      </p:sp>
      <p:sp>
        <p:nvSpPr>
          <p:cNvPr id="3" name="Content Placeholder 2"/>
          <p:cNvSpPr>
            <a:spLocks noGrp="1"/>
          </p:cNvSpPr>
          <p:nvPr>
            <p:ph sz="quarter" idx="1"/>
          </p:nvPr>
        </p:nvSpPr>
        <p:spPr>
          <a:xfrm>
            <a:off x="457200" y="1371600"/>
            <a:ext cx="8153400" cy="5102352"/>
          </a:xfrm>
        </p:spPr>
        <p:txBody>
          <a:bodyPr>
            <a:normAutofit/>
          </a:bodyPr>
          <a:lstStyle/>
          <a:p>
            <a:pPr algn="just"/>
            <a:r>
              <a:rPr lang="en-US" sz="2000" dirty="0" smtClean="0">
                <a:latin typeface="Times New Roman" pitchFamily="18" charset="0"/>
                <a:cs typeface="Times New Roman" pitchFamily="18" charset="0"/>
              </a:rPr>
              <a:t>It is a classical methodology for the calculation of the Hurst exponent.</a:t>
            </a:r>
          </a:p>
          <a:p>
            <a:pPr algn="just"/>
            <a:r>
              <a:rPr lang="en-US" sz="2000" dirty="0" smtClean="0">
                <a:latin typeface="Times New Roman" pitchFamily="18" charset="0"/>
                <a:cs typeface="Times New Roman" pitchFamily="18" charset="0"/>
              </a:rPr>
              <a:t>In </a:t>
            </a:r>
            <a:r>
              <a:rPr lang="en-US" sz="2000" dirty="0">
                <a:latin typeface="Times New Roman" pitchFamily="18" charset="0"/>
                <a:cs typeface="Times New Roman" pitchFamily="18" charset="0"/>
              </a:rPr>
              <a:t>this paper we have </a:t>
            </a:r>
            <a:r>
              <a:rPr lang="en-US" sz="2000" dirty="0" smtClean="0">
                <a:latin typeface="Times New Roman" pitchFamily="18" charset="0"/>
                <a:cs typeface="Times New Roman" pitchFamily="18" charset="0"/>
              </a:rPr>
              <a:t>used the </a:t>
            </a:r>
            <a:r>
              <a:rPr lang="en-US" sz="2000" dirty="0">
                <a:latin typeface="Times New Roman" pitchFamily="18" charset="0"/>
                <a:cs typeface="Times New Roman" pitchFamily="18" charset="0"/>
              </a:rPr>
              <a:t>rescaled range analysis for the calculation of the </a:t>
            </a:r>
            <a:r>
              <a:rPr lang="en-US" sz="2000" dirty="0" smtClean="0">
                <a:latin typeface="Times New Roman" pitchFamily="18" charset="0"/>
                <a:cs typeface="Times New Roman" pitchFamily="18" charset="0"/>
              </a:rPr>
              <a:t>Hurst exponent </a:t>
            </a:r>
            <a:r>
              <a:rPr lang="en-US" sz="2000" dirty="0">
                <a:latin typeface="Times New Roman" pitchFamily="18" charset="0"/>
                <a:cs typeface="Times New Roman" pitchFamily="18" charset="0"/>
              </a:rPr>
              <a:t>(Singh and </a:t>
            </a:r>
            <a:r>
              <a:rPr lang="en-US" sz="2000" dirty="0" err="1">
                <a:latin typeface="Times New Roman" pitchFamily="18" charset="0"/>
                <a:cs typeface="Times New Roman" pitchFamily="18" charset="0"/>
              </a:rPr>
              <a:t>Bhargawa</a:t>
            </a:r>
            <a:r>
              <a:rPr lang="en-US" sz="2000" dirty="0">
                <a:latin typeface="Times New Roman" pitchFamily="18" charset="0"/>
                <a:cs typeface="Times New Roman" pitchFamily="18" charset="0"/>
              </a:rPr>
              <a:t> 2017</a:t>
            </a:r>
            <a:r>
              <a:rPr lang="en-US" sz="2000" dirty="0" smtClean="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Based on the previous work of Hurst (1951), classical </a:t>
            </a:r>
            <a:r>
              <a:rPr lang="en-US" sz="2000" dirty="0" smtClean="0">
                <a:latin typeface="Times New Roman" pitchFamily="18" charset="0"/>
                <a:cs typeface="Times New Roman" pitchFamily="18" charset="0"/>
              </a:rPr>
              <a:t>test for </a:t>
            </a:r>
            <a:r>
              <a:rPr lang="en-US" sz="2000" dirty="0">
                <a:latin typeface="Times New Roman" pitchFamily="18" charset="0"/>
                <a:cs typeface="Times New Roman" pitchFamily="18" charset="0"/>
              </a:rPr>
              <a:t>estimation of the Hurst exponent was proposed by </a:t>
            </a:r>
            <a:r>
              <a:rPr lang="en-US" sz="2000" dirty="0" smtClean="0">
                <a:latin typeface="Times New Roman" pitchFamily="18" charset="0"/>
                <a:cs typeface="Times New Roman" pitchFamily="18" charset="0"/>
              </a:rPr>
              <a:t>Mandelbrot </a:t>
            </a:r>
            <a:r>
              <a:rPr lang="en-IN" sz="2000" dirty="0" smtClean="0">
                <a:latin typeface="Times New Roman" pitchFamily="18" charset="0"/>
                <a:cs typeface="Times New Roman" pitchFamily="18" charset="0"/>
              </a:rPr>
              <a:t>(1972).</a:t>
            </a:r>
          </a:p>
          <a:p>
            <a:pPr algn="just"/>
            <a:r>
              <a:rPr lang="en-US" sz="2000" dirty="0">
                <a:latin typeface="Times New Roman" pitchFamily="18" charset="0"/>
                <a:cs typeface="Times New Roman" pitchFamily="18" charset="0"/>
              </a:rPr>
              <a:t>It has been widely used by other workers </a:t>
            </a:r>
            <a:r>
              <a:rPr lang="en-US" sz="2000" dirty="0" smtClean="0">
                <a:latin typeface="Times New Roman" pitchFamily="18" charset="0"/>
                <a:cs typeface="Times New Roman" pitchFamily="18" charset="0"/>
              </a:rPr>
              <a:t>for measure </a:t>
            </a:r>
            <a:r>
              <a:rPr lang="en-US" sz="2000" dirty="0">
                <a:latin typeface="Times New Roman" pitchFamily="18" charset="0"/>
                <a:cs typeface="Times New Roman" pitchFamily="18" charset="0"/>
              </a:rPr>
              <a:t>of long term memory and persistence in time </a:t>
            </a:r>
            <a:r>
              <a:rPr lang="en-US" sz="2000" dirty="0" smtClean="0">
                <a:latin typeface="Times New Roman" pitchFamily="18" charset="0"/>
                <a:cs typeface="Times New Roman" pitchFamily="18" charset="0"/>
              </a:rPr>
              <a:t>series </a:t>
            </a:r>
            <a:r>
              <a:rPr lang="en-IN" sz="2000" dirty="0" smtClean="0">
                <a:latin typeface="Times New Roman" pitchFamily="18" charset="0"/>
                <a:cs typeface="Times New Roman" pitchFamily="18" charset="0"/>
              </a:rPr>
              <a:t>(Oliver </a:t>
            </a:r>
            <a:r>
              <a:rPr lang="en-IN" sz="2000" dirty="0">
                <a:latin typeface="Times New Roman" pitchFamily="18" charset="0"/>
                <a:cs typeface="Times New Roman" pitchFamily="18" charset="0"/>
              </a:rPr>
              <a:t>and </a:t>
            </a:r>
            <a:r>
              <a:rPr lang="en-IN" sz="2000" dirty="0" err="1">
                <a:latin typeface="Times New Roman" pitchFamily="18" charset="0"/>
                <a:cs typeface="Times New Roman" pitchFamily="18" charset="0"/>
              </a:rPr>
              <a:t>Ballester</a:t>
            </a:r>
            <a:r>
              <a:rPr lang="en-IN" sz="2000" dirty="0">
                <a:latin typeface="Times New Roman" pitchFamily="18" charset="0"/>
                <a:cs typeface="Times New Roman" pitchFamily="18" charset="0"/>
              </a:rPr>
              <a:t> 1996; Adams et al. 1997</a:t>
            </a:r>
            <a:r>
              <a:rPr lang="en-IN" sz="2000" dirty="0" smtClean="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The Hurst exponent provides a </a:t>
            </a:r>
            <a:r>
              <a:rPr lang="en-US" sz="2000" dirty="0" smtClean="0">
                <a:latin typeface="Times New Roman" pitchFamily="18" charset="0"/>
                <a:cs typeface="Times New Roman" pitchFamily="18" charset="0"/>
              </a:rPr>
              <a:t>measure for </a:t>
            </a:r>
            <a:r>
              <a:rPr lang="en-US" sz="2000" dirty="0">
                <a:latin typeface="Times New Roman" pitchFamily="18" charset="0"/>
                <a:cs typeface="Times New Roman" pitchFamily="18" charset="0"/>
              </a:rPr>
              <a:t>long term memory of a time series. Since it is </a:t>
            </a:r>
            <a:r>
              <a:rPr lang="en-US" sz="2000" dirty="0" smtClean="0">
                <a:latin typeface="Times New Roman" pitchFamily="18" charset="0"/>
                <a:cs typeface="Times New Roman" pitchFamily="18" charset="0"/>
              </a:rPr>
              <a:t>robust with </a:t>
            </a:r>
            <a:r>
              <a:rPr lang="en-US" sz="2000" dirty="0">
                <a:latin typeface="Times New Roman" pitchFamily="18" charset="0"/>
                <a:cs typeface="Times New Roman" pitchFamily="18" charset="0"/>
              </a:rPr>
              <a:t>few assumptions about underlying system, it </a:t>
            </a:r>
            <a:r>
              <a:rPr lang="en-US" sz="2000" dirty="0" smtClean="0">
                <a:latin typeface="Times New Roman" pitchFamily="18" charset="0"/>
                <a:cs typeface="Times New Roman" pitchFamily="18" charset="0"/>
              </a:rPr>
              <a:t>has broad applicability </a:t>
            </a:r>
            <a:r>
              <a:rPr lang="en-US" sz="2000" dirty="0">
                <a:latin typeface="Times New Roman" pitchFamily="18" charset="0"/>
                <a:cs typeface="Times New Roman" pitchFamily="18" charset="0"/>
              </a:rPr>
              <a:t>for time series analysis</a:t>
            </a:r>
            <a:r>
              <a:rPr lang="en-US" sz="2000" dirty="0" smtClean="0">
                <a:latin typeface="Times New Roman" pitchFamily="18" charset="0"/>
                <a:cs typeface="Times New Roman" pitchFamily="18" charset="0"/>
              </a:rPr>
              <a:t>.</a:t>
            </a:r>
          </a:p>
          <a:p>
            <a:pPr algn="just"/>
            <a:r>
              <a:rPr lang="en-IN" sz="2000" dirty="0">
                <a:latin typeface="Times New Roman" pitchFamily="18" charset="0"/>
                <a:cs typeface="Times New Roman" pitchFamily="18" charset="0"/>
              </a:rPr>
              <a:t>The values </a:t>
            </a:r>
            <a:r>
              <a:rPr lang="en-IN" sz="2000" dirty="0" smtClean="0">
                <a:latin typeface="Times New Roman" pitchFamily="18" charset="0"/>
                <a:cs typeface="Times New Roman" pitchFamily="18" charset="0"/>
              </a:rPr>
              <a:t>of </a:t>
            </a: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Hurst exponent range between 0 and 1. The strength </a:t>
            </a:r>
            <a:r>
              <a:rPr lang="en-US" sz="2000" dirty="0" smtClean="0">
                <a:latin typeface="Times New Roman" pitchFamily="18" charset="0"/>
                <a:cs typeface="Times New Roman" pitchFamily="18" charset="0"/>
              </a:rPr>
              <a:t>of persistence </a:t>
            </a:r>
            <a:r>
              <a:rPr lang="en-US" sz="2000" dirty="0">
                <a:latin typeface="Times New Roman" pitchFamily="18" charset="0"/>
                <a:cs typeface="Times New Roman" pitchFamily="18" charset="0"/>
              </a:rPr>
              <a:t>increases as H approaches 1.</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20742888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87362"/>
          </a:xfrm>
        </p:spPr>
        <p:txBody>
          <a:bodyPr>
            <a:noAutofit/>
          </a:bodyPr>
          <a:lstStyle/>
          <a:p>
            <a:pPr algn="just"/>
            <a:r>
              <a:rPr lang="en-IN" sz="3200" b="1" dirty="0" smtClean="0">
                <a:solidFill>
                  <a:schemeClr val="accent1">
                    <a:lumMod val="75000"/>
                  </a:schemeClr>
                </a:solidFill>
                <a:latin typeface="Times New Roman" pitchFamily="18" charset="0"/>
                <a:cs typeface="Times New Roman" pitchFamily="18" charset="0"/>
              </a:rPr>
              <a:t>Why we calculate Hurst exponent</a:t>
            </a:r>
            <a:endParaRPr lang="en-IN" sz="3200" b="1"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152400" y="1143000"/>
            <a:ext cx="8382000" cy="5486400"/>
          </a:xfrm>
        </p:spPr>
        <p:txBody>
          <a:bodyPr>
            <a:normAutofit/>
          </a:bodyPr>
          <a:lstStyle/>
          <a:p>
            <a:pPr algn="just"/>
            <a:r>
              <a:rPr lang="en-IN" sz="2000" dirty="0">
                <a:latin typeface="Times New Roman" pitchFamily="18" charset="0"/>
                <a:cs typeface="Times New Roman" pitchFamily="18" charset="0"/>
              </a:rPr>
              <a:t>In the time </a:t>
            </a:r>
            <a:r>
              <a:rPr lang="en-IN" sz="2000" dirty="0" smtClean="0">
                <a:latin typeface="Times New Roman" pitchFamily="18" charset="0"/>
                <a:cs typeface="Times New Roman" pitchFamily="18" charset="0"/>
              </a:rPr>
              <a:t>series </a:t>
            </a:r>
            <a:r>
              <a:rPr lang="en-US" sz="2000" dirty="0" smtClean="0">
                <a:latin typeface="Times New Roman" pitchFamily="18" charset="0"/>
                <a:cs typeface="Times New Roman" pitchFamily="18" charset="0"/>
              </a:rPr>
              <a:t>forecasting</a:t>
            </a:r>
            <a:r>
              <a:rPr lang="en-US" sz="2000" dirty="0">
                <a:latin typeface="Times New Roman" pitchFamily="18" charset="0"/>
                <a:cs typeface="Times New Roman" pitchFamily="18" charset="0"/>
              </a:rPr>
              <a:t>, the first question we want to answer is </a:t>
            </a:r>
            <a:r>
              <a:rPr lang="en-US" sz="2000" dirty="0" smtClean="0">
                <a:latin typeface="Times New Roman" pitchFamily="18" charset="0"/>
                <a:cs typeface="Times New Roman" pitchFamily="18" charset="0"/>
              </a:rPr>
              <a:t>whether the </a:t>
            </a:r>
            <a:r>
              <a:rPr lang="en-US" sz="2000" dirty="0">
                <a:latin typeface="Times New Roman" pitchFamily="18" charset="0"/>
                <a:cs typeface="Times New Roman" pitchFamily="18" charset="0"/>
              </a:rPr>
              <a:t>time series under study is predictable</a:t>
            </a:r>
            <a:r>
              <a:rPr lang="en-US" sz="2000" dirty="0" smtClean="0">
                <a:latin typeface="Times New Roman" pitchFamily="18" charset="0"/>
                <a:cs typeface="Times New Roman" pitchFamily="18" charset="0"/>
              </a:rPr>
              <a:t>.</a:t>
            </a:r>
          </a:p>
          <a:p>
            <a:pPr algn="just"/>
            <a:endParaRPr lang="en-IN"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If </a:t>
            </a:r>
            <a:r>
              <a:rPr lang="en-IN" sz="2000" dirty="0">
                <a:latin typeface="Times New Roman" pitchFamily="18" charset="0"/>
                <a:cs typeface="Times New Roman" pitchFamily="18" charset="0"/>
              </a:rPr>
              <a:t>the time </a:t>
            </a:r>
            <a:r>
              <a:rPr lang="en-IN" sz="2000" dirty="0" smtClean="0">
                <a:latin typeface="Times New Roman" pitchFamily="18" charset="0"/>
                <a:cs typeface="Times New Roman" pitchFamily="18" charset="0"/>
              </a:rPr>
              <a:t>series </a:t>
            </a:r>
            <a:r>
              <a:rPr lang="en-US" sz="2000" dirty="0" smtClean="0">
                <a:latin typeface="Times New Roman" pitchFamily="18" charset="0"/>
                <a:cs typeface="Times New Roman" pitchFamily="18" charset="0"/>
              </a:rPr>
              <a:t>is </a:t>
            </a:r>
            <a:r>
              <a:rPr lang="en-US" sz="2000" dirty="0">
                <a:latin typeface="Times New Roman" pitchFamily="18" charset="0"/>
                <a:cs typeface="Times New Roman" pitchFamily="18" charset="0"/>
              </a:rPr>
              <a:t>random, all methods are expected to fail</a:t>
            </a:r>
            <a:r>
              <a:rPr lang="en-US" sz="2000" dirty="0" smtClean="0">
                <a:latin typeface="Times New Roman" pitchFamily="18" charset="0"/>
                <a:cs typeface="Times New Roman" pitchFamily="18" charset="0"/>
              </a:rPr>
              <a:t>.</a:t>
            </a:r>
          </a:p>
          <a:p>
            <a:pPr algn="just"/>
            <a:endParaRPr lang="en-IN"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We </a:t>
            </a:r>
            <a:r>
              <a:rPr lang="en-IN" sz="2000" dirty="0">
                <a:latin typeface="Times New Roman" pitchFamily="18" charset="0"/>
                <a:cs typeface="Times New Roman" pitchFamily="18" charset="0"/>
              </a:rPr>
              <a:t>want to </a:t>
            </a:r>
            <a:r>
              <a:rPr lang="en-IN" sz="2000" dirty="0" smtClean="0">
                <a:latin typeface="Times New Roman" pitchFamily="18" charset="0"/>
                <a:cs typeface="Times New Roman" pitchFamily="18" charset="0"/>
              </a:rPr>
              <a:t>identify </a:t>
            </a:r>
            <a:r>
              <a:rPr lang="en-US" sz="2000" dirty="0" smtClean="0">
                <a:latin typeface="Times New Roman" pitchFamily="18" charset="0"/>
                <a:cs typeface="Times New Roman" pitchFamily="18" charset="0"/>
              </a:rPr>
              <a:t>and </a:t>
            </a:r>
            <a:r>
              <a:rPr lang="en-US" sz="2000" dirty="0">
                <a:latin typeface="Times New Roman" pitchFamily="18" charset="0"/>
                <a:cs typeface="Times New Roman" pitchFamily="18" charset="0"/>
              </a:rPr>
              <a:t>study those time series having at least some </a:t>
            </a:r>
            <a:r>
              <a:rPr lang="en-US" sz="2000" dirty="0" smtClean="0">
                <a:latin typeface="Times New Roman" pitchFamily="18" charset="0"/>
                <a:cs typeface="Times New Roman" pitchFamily="18" charset="0"/>
              </a:rPr>
              <a:t>degree </a:t>
            </a:r>
            <a:r>
              <a:rPr lang="en-IN" sz="2000" dirty="0" smtClean="0">
                <a:latin typeface="Times New Roman" pitchFamily="18" charset="0"/>
                <a:cs typeface="Times New Roman" pitchFamily="18" charset="0"/>
              </a:rPr>
              <a:t>of </a:t>
            </a:r>
            <a:r>
              <a:rPr lang="en-IN" sz="2000" dirty="0">
                <a:latin typeface="Times New Roman" pitchFamily="18" charset="0"/>
                <a:cs typeface="Times New Roman" pitchFamily="18" charset="0"/>
              </a:rPr>
              <a:t>predictability</a:t>
            </a:r>
            <a:r>
              <a:rPr lang="en-IN"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We </a:t>
            </a:r>
            <a:r>
              <a:rPr lang="en-US" sz="2000" dirty="0">
                <a:latin typeface="Times New Roman" pitchFamily="18" charset="0"/>
                <a:cs typeface="Times New Roman" pitchFamily="18" charset="0"/>
              </a:rPr>
              <a:t>know that a time series with a larger </a:t>
            </a:r>
            <a:r>
              <a:rPr lang="en-US" sz="2000" dirty="0" smtClean="0">
                <a:latin typeface="Times New Roman" pitchFamily="18" charset="0"/>
                <a:cs typeface="Times New Roman" pitchFamily="18" charset="0"/>
              </a:rPr>
              <a:t>H value </a:t>
            </a:r>
            <a:r>
              <a:rPr lang="en-US" sz="2000" dirty="0">
                <a:latin typeface="Times New Roman" pitchFamily="18" charset="0"/>
                <a:cs typeface="Times New Roman" pitchFamily="18" charset="0"/>
              </a:rPr>
              <a:t>has strong trend, thus it’s natural to believe that </a:t>
            </a:r>
            <a:r>
              <a:rPr lang="en-US" sz="2000" dirty="0" smtClean="0">
                <a:latin typeface="Times New Roman" pitchFamily="18" charset="0"/>
                <a:cs typeface="Times New Roman" pitchFamily="18" charset="0"/>
              </a:rPr>
              <a:t>such time </a:t>
            </a:r>
            <a:r>
              <a:rPr lang="en-US" sz="2000" dirty="0">
                <a:latin typeface="Times New Roman" pitchFamily="18" charset="0"/>
                <a:cs typeface="Times New Roman" pitchFamily="18" charset="0"/>
              </a:rPr>
              <a:t>series are more predictable.</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21999135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a:bodyPr>
          <a:lstStyle/>
          <a:p>
            <a:r>
              <a:rPr lang="en-IN" sz="3200" b="1" dirty="0" smtClean="0">
                <a:solidFill>
                  <a:schemeClr val="accent1">
                    <a:lumMod val="75000"/>
                  </a:schemeClr>
                </a:solidFill>
                <a:latin typeface="Times New Roman" pitchFamily="18" charset="0"/>
                <a:cs typeface="Times New Roman" pitchFamily="18" charset="0"/>
              </a:rPr>
              <a:t>Calculating Hurst exponent</a:t>
            </a:r>
            <a:endParaRPr lang="en-IN" sz="3200" b="1" dirty="0">
              <a:solidFill>
                <a:schemeClr val="accent1">
                  <a:lumMod val="75000"/>
                </a:schemeClr>
              </a:solidFill>
              <a:latin typeface="Times New Roman" pitchFamily="18" charset="0"/>
              <a:cs typeface="Times New Roman" pitchFamily="18" charset="0"/>
            </a:endParaRPr>
          </a:p>
        </p:txBody>
      </p:sp>
      <mc:AlternateContent xmlns:mc="http://schemas.openxmlformats.org/markup-compatibility/2006">
        <mc:Choice xmlns:a14="http://schemas.microsoft.com/office/drawing/2010/main" xmlns="" Requires="a14">
          <p:sp>
            <p:nvSpPr>
              <p:cNvPr id="3" name="Content Placeholder 2"/>
              <p:cNvSpPr>
                <a:spLocks noGrp="1"/>
              </p:cNvSpPr>
              <p:nvPr>
                <p:ph sz="quarter" idx="1"/>
              </p:nvPr>
            </p:nvSpPr>
            <p:spPr>
              <a:xfrm>
                <a:off x="457200" y="1524000"/>
                <a:ext cx="8229600" cy="4949952"/>
              </a:xfrm>
            </p:spPr>
            <p:txBody>
              <a:bodyPr>
                <a:normAutofit/>
              </a:bodyPr>
              <a:lstStyle/>
              <a:p>
                <a:pPr algn="just"/>
                <a:r>
                  <a:rPr lang="en-US" sz="2000" dirty="0" smtClean="0">
                    <a:latin typeface="Times New Roman" pitchFamily="18" charset="0"/>
                    <a:cs typeface="Times New Roman" pitchFamily="18" charset="0"/>
                  </a:rPr>
                  <a:t>Suppose </a:t>
                </a:r>
                <a:r>
                  <a:rPr lang="en-US" sz="2000" i="1" dirty="0">
                    <a:latin typeface="Times New Roman" pitchFamily="18" charset="0"/>
                    <a:cs typeface="Times New Roman" pitchFamily="18" charset="0"/>
                  </a:rPr>
                  <a:t>N </a:t>
                </a:r>
                <a:r>
                  <a:rPr lang="en-US" sz="2000" dirty="0">
                    <a:latin typeface="Times New Roman" pitchFamily="18" charset="0"/>
                    <a:cs typeface="Times New Roman" pitchFamily="18" charset="0"/>
                  </a:rPr>
                  <a:t>is total number of counts and this </a:t>
                </a:r>
                <a:r>
                  <a:rPr lang="en-US" sz="2000" dirty="0" smtClean="0">
                    <a:latin typeface="Times New Roman" pitchFamily="18" charset="0"/>
                    <a:cs typeface="Times New Roman" pitchFamily="18" charset="0"/>
                  </a:rPr>
                  <a:t>can be </a:t>
                </a:r>
                <a:r>
                  <a:rPr lang="en-US" sz="2000" dirty="0">
                    <a:latin typeface="Times New Roman" pitchFamily="18" charset="0"/>
                    <a:cs typeface="Times New Roman" pitchFamily="18" charset="0"/>
                  </a:rPr>
                  <a:t>divided into a number of shorter time series of </a:t>
                </a:r>
                <a:r>
                  <a:rPr lang="en-US" sz="2000" dirty="0" smtClean="0">
                    <a:latin typeface="Times New Roman" pitchFamily="18" charset="0"/>
                    <a:cs typeface="Times New Roman" pitchFamily="18" charset="0"/>
                  </a:rPr>
                  <a:t>length </a:t>
                </a:r>
                <a:r>
                  <a:rPr lang="en-IN" sz="2000" i="1" dirty="0" smtClean="0">
                    <a:latin typeface="Times New Roman" pitchFamily="18" charset="0"/>
                    <a:cs typeface="Times New Roman" pitchFamily="18" charset="0"/>
                  </a:rPr>
                  <a:t>n </a:t>
                </a:r>
                <a:r>
                  <a:rPr lang="en-IN" sz="2000" dirty="0">
                    <a:latin typeface="Times New Roman" pitchFamily="18" charset="0"/>
                    <a:cs typeface="Times New Roman" pitchFamily="18" charset="0"/>
                  </a:rPr>
                  <a:t>= </a:t>
                </a:r>
                <a:r>
                  <a:rPr lang="en-IN" sz="2000" i="1" dirty="0">
                    <a:latin typeface="Times New Roman" pitchFamily="18" charset="0"/>
                    <a:cs typeface="Times New Roman" pitchFamily="18" charset="0"/>
                  </a:rPr>
                  <a:t>N,N/</a:t>
                </a:r>
                <a:r>
                  <a:rPr lang="en-IN" sz="2000" dirty="0">
                    <a:latin typeface="Times New Roman" pitchFamily="18" charset="0"/>
                    <a:cs typeface="Times New Roman" pitchFamily="18" charset="0"/>
                  </a:rPr>
                  <a:t>2</a:t>
                </a:r>
                <a:r>
                  <a:rPr lang="en-IN" sz="2000" i="1" dirty="0">
                    <a:latin typeface="Times New Roman" pitchFamily="18" charset="0"/>
                    <a:cs typeface="Times New Roman" pitchFamily="18" charset="0"/>
                  </a:rPr>
                  <a:t>,N/</a:t>
                </a:r>
                <a:r>
                  <a:rPr lang="en-IN" sz="2000" dirty="0">
                    <a:latin typeface="Times New Roman" pitchFamily="18" charset="0"/>
                    <a:cs typeface="Times New Roman" pitchFamily="18" charset="0"/>
                  </a:rPr>
                  <a:t>4 </a:t>
                </a:r>
                <a:r>
                  <a:rPr lang="en-IN" sz="2000" i="1" dirty="0">
                    <a:latin typeface="Times New Roman" pitchFamily="18" charset="0"/>
                    <a:cs typeface="Times New Roman" pitchFamily="18" charset="0"/>
                  </a:rPr>
                  <a:t>. . . </a:t>
                </a:r>
                <a:r>
                  <a:rPr lang="en-IN" sz="2000" dirty="0" smtClean="0">
                    <a:latin typeface="Times New Roman" pitchFamily="18" charset="0"/>
                    <a:cs typeface="Times New Roman" pitchFamily="18" charset="0"/>
                  </a:rPr>
                  <a:t>.</a:t>
                </a:r>
              </a:p>
              <a:p>
                <a:r>
                  <a:rPr lang="en-US" sz="2000" dirty="0">
                    <a:latin typeface="Times New Roman" pitchFamily="18" charset="0"/>
                    <a:cs typeface="Times New Roman" pitchFamily="18" charset="0"/>
                  </a:rPr>
                  <a:t>The average rescaled range is </a:t>
                </a:r>
                <a:r>
                  <a:rPr lang="en-US" sz="2000" dirty="0" smtClean="0">
                    <a:latin typeface="Times New Roman" pitchFamily="18" charset="0"/>
                    <a:cs typeface="Times New Roman" pitchFamily="18" charset="0"/>
                  </a:rPr>
                  <a:t>then calculated </a:t>
                </a:r>
                <a:r>
                  <a:rPr lang="en-US" sz="2000" dirty="0">
                    <a:latin typeface="Times New Roman" pitchFamily="18" charset="0"/>
                    <a:cs typeface="Times New Roman" pitchFamily="18" charset="0"/>
                  </a:rPr>
                  <a:t>for each value of </a:t>
                </a:r>
                <a:r>
                  <a:rPr lang="en-US" sz="2000" i="1" dirty="0">
                    <a:latin typeface="Times New Roman" pitchFamily="18" charset="0"/>
                    <a:cs typeface="Times New Roman" pitchFamily="18" charset="0"/>
                  </a:rPr>
                  <a:t>n</a:t>
                </a:r>
                <a:r>
                  <a:rPr lang="en-US" sz="2000" dirty="0" smtClean="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Again for a partial time </a:t>
                </a:r>
                <a:r>
                  <a:rPr lang="en-US" sz="2000" dirty="0" smtClean="0">
                    <a:latin typeface="Times New Roman" pitchFamily="18" charset="0"/>
                    <a:cs typeface="Times New Roman" pitchFamily="18" charset="0"/>
                  </a:rPr>
                  <a:t>series (sub </a:t>
                </a:r>
                <a:r>
                  <a:rPr lang="en-US" sz="2000" dirty="0">
                    <a:latin typeface="Times New Roman" pitchFamily="18" charset="0"/>
                    <a:cs typeface="Times New Roman" pitchFamily="18" charset="0"/>
                  </a:rPr>
                  <a:t>series) of length </a:t>
                </a:r>
                <a14:m>
                  <m:oMath xmlns:m="http://schemas.openxmlformats.org/officeDocument/2006/math">
                    <m:sSub>
                      <m:sSubPr>
                        <m:ctrlPr>
                          <a:rPr lang="en-US" sz="2000" i="1" dirty="0" smtClean="0">
                            <a:latin typeface="Cambria Math"/>
                            <a:cs typeface="Times New Roman" pitchFamily="18" charset="0"/>
                          </a:rPr>
                        </m:ctrlPr>
                      </m:sSubPr>
                      <m:e>
                        <m:r>
                          <a:rPr lang="en-IN" sz="2000" b="0" i="1" dirty="0" smtClean="0">
                            <a:latin typeface="Cambria Math"/>
                            <a:cs typeface="Times New Roman" pitchFamily="18" charset="0"/>
                          </a:rPr>
                          <m:t>𝑋</m:t>
                        </m:r>
                      </m:e>
                      <m:sub>
                        <m:r>
                          <a:rPr lang="en-IN" sz="2000" b="0" i="1" dirty="0" smtClean="0">
                            <a:latin typeface="Cambria Math"/>
                            <a:cs typeface="Times New Roman" pitchFamily="18" charset="0"/>
                          </a:rPr>
                          <m:t>1</m:t>
                        </m:r>
                      </m:sub>
                    </m:sSub>
                    <m:r>
                      <a:rPr lang="en-IN" sz="2000" b="0" i="1" dirty="0" smtClean="0">
                        <a:latin typeface="Cambria Math"/>
                        <a:cs typeface="Times New Roman" pitchFamily="18" charset="0"/>
                      </a:rPr>
                      <m:t>, </m:t>
                    </m:r>
                    <m:sSub>
                      <m:sSubPr>
                        <m:ctrlPr>
                          <a:rPr lang="en-US" sz="2000" i="1" dirty="0" smtClean="0">
                            <a:latin typeface="Cambria Math"/>
                            <a:cs typeface="Times New Roman" pitchFamily="18" charset="0"/>
                          </a:rPr>
                        </m:ctrlPr>
                      </m:sSubPr>
                      <m:e>
                        <m:r>
                          <a:rPr lang="en-IN" sz="2000" b="0" i="1" dirty="0" smtClean="0">
                            <a:latin typeface="Cambria Math"/>
                            <a:cs typeface="Times New Roman" pitchFamily="18" charset="0"/>
                          </a:rPr>
                          <m:t>𝑋</m:t>
                        </m:r>
                      </m:e>
                      <m:sub>
                        <m:r>
                          <a:rPr lang="en-IN" sz="2000" b="0" i="1" dirty="0" smtClean="0">
                            <a:latin typeface="Cambria Math"/>
                            <a:cs typeface="Times New Roman" pitchFamily="18" charset="0"/>
                          </a:rPr>
                          <m:t>2</m:t>
                        </m:r>
                      </m:sub>
                    </m:sSub>
                    <m:r>
                      <a:rPr lang="en-IN" sz="2000" b="0" i="1" dirty="0" smtClean="0">
                        <a:latin typeface="Cambria Math"/>
                        <a:cs typeface="Times New Roman" pitchFamily="18" charset="0"/>
                      </a:rPr>
                      <m:t>,………</m:t>
                    </m:r>
                    <m:sSub>
                      <m:sSubPr>
                        <m:ctrlPr>
                          <a:rPr lang="en-US" sz="2000" i="1" dirty="0" smtClean="0">
                            <a:latin typeface="Cambria Math"/>
                            <a:cs typeface="Times New Roman" pitchFamily="18" charset="0"/>
                          </a:rPr>
                        </m:ctrlPr>
                      </m:sSubPr>
                      <m:e>
                        <m:r>
                          <a:rPr lang="en-IN" sz="2000" b="0" i="1" dirty="0" smtClean="0">
                            <a:latin typeface="Cambria Math"/>
                            <a:cs typeface="Times New Roman" pitchFamily="18" charset="0"/>
                          </a:rPr>
                          <m:t>𝑋</m:t>
                        </m:r>
                      </m:e>
                      <m:sub>
                        <m:r>
                          <a:rPr lang="en-IN" sz="2000" b="0" i="1" dirty="0" smtClean="0">
                            <a:latin typeface="Cambria Math"/>
                            <a:cs typeface="Times New Roman" pitchFamily="18" charset="0"/>
                          </a:rPr>
                          <m:t>𝑛</m:t>
                        </m:r>
                      </m:sub>
                    </m:sSub>
                  </m:oMath>
                </a14:m>
                <a:r>
                  <a:rPr lang="en-US" sz="2000" dirty="0">
                    <a:latin typeface="Times New Roman" pitchFamily="18" charset="0"/>
                    <a:cs typeface="Times New Roman" pitchFamily="18" charset="0"/>
                  </a:rPr>
                  <a:t>, the rescaled </a:t>
                </a:r>
                <a:r>
                  <a:rPr lang="en-US" sz="2000" dirty="0" smtClean="0">
                    <a:latin typeface="Times New Roman" pitchFamily="18" charset="0"/>
                    <a:cs typeface="Times New Roman" pitchFamily="18" charset="0"/>
                  </a:rPr>
                  <a:t>range (</a:t>
                </a:r>
                <a:r>
                  <a:rPr lang="en-US" sz="2000" i="1" dirty="0" smtClean="0">
                    <a:latin typeface="Times New Roman" pitchFamily="18" charset="0"/>
                    <a:cs typeface="Times New Roman" pitchFamily="18" charset="0"/>
                  </a:rPr>
                  <a:t>R</a:t>
                </a:r>
                <a:r>
                  <a:rPr lang="en-US" sz="2000" dirty="0">
                    <a:latin typeface="Times New Roman" pitchFamily="18" charset="0"/>
                    <a:cs typeface="Times New Roman" pitchFamily="18" charset="0"/>
                  </a:rPr>
                  <a:t>) and standard deviation (</a:t>
                </a:r>
                <a:r>
                  <a:rPr lang="en-US" sz="2000" i="1" dirty="0">
                    <a:latin typeface="Times New Roman" pitchFamily="18" charset="0"/>
                    <a:cs typeface="Times New Roman" pitchFamily="18" charset="0"/>
                  </a:rPr>
                  <a:t>S</a:t>
                </a:r>
                <a:r>
                  <a:rPr lang="en-US" sz="2000" dirty="0">
                    <a:latin typeface="Times New Roman" pitchFamily="18" charset="0"/>
                    <a:cs typeface="Times New Roman" pitchFamily="18" charset="0"/>
                  </a:rPr>
                  <a:t>) are calculated and from </a:t>
                </a:r>
                <a:r>
                  <a:rPr lang="en-US" sz="2000" dirty="0" smtClean="0">
                    <a:latin typeface="Times New Roman" pitchFamily="18" charset="0"/>
                    <a:cs typeface="Times New Roman" pitchFamily="18" charset="0"/>
                  </a:rPr>
                  <a:t>the calculation </a:t>
                </a:r>
                <a:r>
                  <a:rPr lang="en-US" sz="2000" dirty="0">
                    <a:latin typeface="Times New Roman" pitchFamily="18" charset="0"/>
                    <a:cs typeface="Times New Roman" pitchFamily="18" charset="0"/>
                  </a:rPr>
                  <a:t>we have obtained the </a:t>
                </a:r>
                <a:r>
                  <a:rPr lang="en-US" sz="2000" i="1" dirty="0">
                    <a:latin typeface="Times New Roman" pitchFamily="18" charset="0"/>
                    <a:cs typeface="Times New Roman" pitchFamily="18" charset="0"/>
                  </a:rPr>
                  <a:t>R/S </a:t>
                </a:r>
                <a:r>
                  <a:rPr lang="en-US" sz="2000" dirty="0">
                    <a:latin typeface="Times New Roman" pitchFamily="18" charset="0"/>
                    <a:cs typeface="Times New Roman" pitchFamily="18" charset="0"/>
                  </a:rPr>
                  <a:t>ratio (sometimes </a:t>
                </a:r>
                <a:r>
                  <a:rPr lang="en-US" sz="2000" dirty="0" smtClean="0">
                    <a:latin typeface="Times New Roman" pitchFamily="18" charset="0"/>
                    <a:cs typeface="Times New Roman" pitchFamily="18" charset="0"/>
                  </a:rPr>
                  <a:t>it is </a:t>
                </a:r>
                <a:r>
                  <a:rPr lang="en-US" sz="2000" dirty="0">
                    <a:latin typeface="Times New Roman" pitchFamily="18" charset="0"/>
                    <a:cs typeface="Times New Roman" pitchFamily="18" charset="0"/>
                  </a:rPr>
                  <a:t>also called </a:t>
                </a:r>
                <a:r>
                  <a:rPr lang="en-US" sz="2000" i="1" dirty="0">
                    <a:latin typeface="Times New Roman" pitchFamily="18" charset="0"/>
                    <a:cs typeface="Times New Roman" pitchFamily="18" charset="0"/>
                  </a:rPr>
                  <a:t>R/S </a:t>
                </a:r>
                <a:r>
                  <a:rPr lang="en-US" sz="2000" dirty="0">
                    <a:latin typeface="Times New Roman" pitchFamily="18" charset="0"/>
                    <a:cs typeface="Times New Roman" pitchFamily="18" charset="0"/>
                  </a:rPr>
                  <a:t>analysis</a:t>
                </a:r>
                <a:r>
                  <a:rPr lang="en-US" sz="2000" dirty="0" smtClean="0">
                    <a:latin typeface="Times New Roman" pitchFamily="18" charset="0"/>
                    <a:cs typeface="Times New Roman" pitchFamily="18" charset="0"/>
                  </a:rPr>
                  <a:t>).</a:t>
                </a:r>
              </a:p>
              <a:p>
                <a:r>
                  <a:rPr lang="en-US" sz="2000" dirty="0">
                    <a:latin typeface="Times New Roman" pitchFamily="18" charset="0"/>
                    <a:cs typeface="Times New Roman" pitchFamily="18" charset="0"/>
                  </a:rPr>
                  <a:t>Further, to estimate the </a:t>
                </a:r>
                <a:r>
                  <a:rPr lang="en-US" sz="2000" dirty="0" smtClean="0">
                    <a:latin typeface="Times New Roman" pitchFamily="18" charset="0"/>
                    <a:cs typeface="Times New Roman" pitchFamily="18" charset="0"/>
                  </a:rPr>
                  <a:t>value of </a:t>
                </a:r>
                <a:r>
                  <a:rPr lang="en-US" sz="2000" dirty="0">
                    <a:latin typeface="Times New Roman" pitchFamily="18" charset="0"/>
                    <a:cs typeface="Times New Roman" pitchFamily="18" charset="0"/>
                  </a:rPr>
                  <a:t>the Hurst exponent, </a:t>
                </a:r>
                <a:r>
                  <a:rPr lang="en-US" sz="2000" i="1" dirty="0">
                    <a:latin typeface="Times New Roman" pitchFamily="18" charset="0"/>
                    <a:cs typeface="Times New Roman" pitchFamily="18" charset="0"/>
                  </a:rPr>
                  <a:t>R/S </a:t>
                </a:r>
                <a:r>
                  <a:rPr lang="en-US" sz="2000" dirty="0">
                    <a:latin typeface="Times New Roman" pitchFamily="18" charset="0"/>
                    <a:cs typeface="Times New Roman" pitchFamily="18" charset="0"/>
                  </a:rPr>
                  <a:t>is plotted against </a:t>
                </a:r>
                <a:r>
                  <a:rPr lang="en-US" sz="2000" i="1" dirty="0">
                    <a:latin typeface="Times New Roman" pitchFamily="18" charset="0"/>
                    <a:cs typeface="Times New Roman" pitchFamily="18" charset="0"/>
                  </a:rPr>
                  <a:t>n </a:t>
                </a:r>
                <a:r>
                  <a:rPr lang="en-US" sz="2000" dirty="0">
                    <a:latin typeface="Times New Roman" pitchFamily="18" charset="0"/>
                    <a:cs typeface="Times New Roman" pitchFamily="18" charset="0"/>
                  </a:rPr>
                  <a:t>on </a:t>
                </a:r>
                <a:r>
                  <a:rPr lang="en-US" sz="2000" dirty="0" smtClean="0">
                    <a:latin typeface="Times New Roman" pitchFamily="18" charset="0"/>
                    <a:cs typeface="Times New Roman" pitchFamily="18" charset="0"/>
                  </a:rPr>
                  <a:t>log-log </a:t>
                </a:r>
                <a:r>
                  <a:rPr lang="en-IN" sz="2000" dirty="0" smtClean="0">
                    <a:latin typeface="Times New Roman" pitchFamily="18" charset="0"/>
                    <a:cs typeface="Times New Roman" pitchFamily="18" charset="0"/>
                  </a:rPr>
                  <a:t>axes.</a:t>
                </a:r>
              </a:p>
              <a:p>
                <a:r>
                  <a:rPr lang="en-US" sz="2000" dirty="0">
                    <a:latin typeface="Times New Roman" pitchFamily="18" charset="0"/>
                    <a:cs typeface="Times New Roman" pitchFamily="18" charset="0"/>
                  </a:rPr>
                  <a:t>The slope of the linear regression gives the value </a:t>
                </a:r>
                <a:r>
                  <a:rPr lang="en-US" sz="2000" dirty="0" smtClean="0">
                    <a:latin typeface="Times New Roman" pitchFamily="18" charset="0"/>
                    <a:cs typeface="Times New Roman" pitchFamily="18" charset="0"/>
                  </a:rPr>
                  <a:t>of </a:t>
                </a:r>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Hurst exponent</a:t>
                </a:r>
                <a:r>
                  <a:rPr lang="en-IN" sz="2000" dirty="0" smtClean="0">
                    <a:latin typeface="Times New Roman" pitchFamily="18" charset="0"/>
                    <a:cs typeface="Times New Roman" pitchFamily="18" charset="0"/>
                  </a:rPr>
                  <a:t>.</a:t>
                </a:r>
              </a:p>
              <a:p>
                <a:r>
                  <a:rPr lang="en-IN" sz="2000" dirty="0" smtClean="0">
                    <a:latin typeface="Times New Roman" pitchFamily="18" charset="0"/>
                    <a:cs typeface="Times New Roman" pitchFamily="18" charset="0"/>
                  </a:rPr>
                  <a:t>The above procedure is applied on the data points of figure 2 and further have plotted the log-log graph for ‘</a:t>
                </a:r>
                <a:r>
                  <a:rPr lang="en-US" sz="2000" i="1" dirty="0" smtClean="0">
                    <a:latin typeface="Times New Roman" pitchFamily="18" charset="0"/>
                    <a:cs typeface="Times New Roman" pitchFamily="18" charset="0"/>
                  </a:rPr>
                  <a:t>R/S’ </a:t>
                </a:r>
                <a:r>
                  <a:rPr lang="en-US" sz="2000" dirty="0" err="1" smtClean="0">
                    <a:latin typeface="Times New Roman" pitchFamily="18" charset="0"/>
                    <a:cs typeface="Times New Roman" pitchFamily="18" charset="0"/>
                  </a:rPr>
                  <a:t>vs</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n’ </a:t>
                </a:r>
                <a:endParaRPr lang="en-IN" sz="2000" dirty="0">
                  <a:latin typeface="Times New Roman" pitchFamily="18" charset="0"/>
                  <a:cs typeface="Times New Roman"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xfrm>
                <a:off x="457200" y="1524000"/>
                <a:ext cx="8229600" cy="4949952"/>
              </a:xfrm>
              <a:blipFill rotWithShape="1">
                <a:blip r:embed="rId2"/>
                <a:stretch>
                  <a:fillRect l="-74" t="-616" r="-741"/>
                </a:stretch>
              </a:blipFill>
            </p:spPr>
            <p:txBody>
              <a:bodyPr/>
              <a:lstStyle/>
              <a:p>
                <a:r>
                  <a:rPr lang="en-IN">
                    <a:noFill/>
                  </a:rPr>
                  <a:t> </a:t>
                </a:r>
              </a:p>
            </p:txBody>
          </p:sp>
        </mc:Fallback>
      </mc:AlternateContent>
    </p:spTree>
    <p:extLst>
      <p:ext uri="{BB962C8B-B14F-4D97-AF65-F5344CB8AC3E}">
        <p14:creationId xmlns:p14="http://schemas.microsoft.com/office/powerpoint/2010/main" xmlns="" val="26406560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Asheesh\Desktop\PAPER_6_R1\PICs\Fig_4.bmp"/>
          <p:cNvPicPr/>
          <p:nvPr/>
        </p:nvPicPr>
        <p:blipFill>
          <a:blip r:embed="rId2">
            <a:extLst>
              <a:ext uri="{28A0092B-C50C-407E-A947-70E740481C1C}">
                <a14:useLocalDpi xmlns:a14="http://schemas.microsoft.com/office/drawing/2010/main" xmlns="" val="0"/>
              </a:ext>
            </a:extLst>
          </a:blip>
          <a:srcRect/>
          <a:stretch>
            <a:fillRect/>
          </a:stretch>
        </p:blipFill>
        <p:spPr bwMode="auto">
          <a:xfrm>
            <a:off x="3429000" y="228600"/>
            <a:ext cx="5243830" cy="6019800"/>
          </a:xfrm>
          <a:prstGeom prst="rect">
            <a:avLst/>
          </a:prstGeom>
          <a:noFill/>
          <a:ln>
            <a:noFill/>
          </a:ln>
        </p:spPr>
      </p:pic>
      <p:sp>
        <p:nvSpPr>
          <p:cNvPr id="5" name="TextBox 4"/>
          <p:cNvSpPr txBox="1"/>
          <p:nvPr/>
        </p:nvSpPr>
        <p:spPr>
          <a:xfrm>
            <a:off x="152401" y="533400"/>
            <a:ext cx="3429000" cy="1631216"/>
          </a:xfrm>
          <a:prstGeom prst="rect">
            <a:avLst/>
          </a:prstGeom>
          <a:noFill/>
        </p:spPr>
        <p:txBody>
          <a:bodyPr wrap="square" rtlCol="0">
            <a:spAutoFit/>
          </a:bodyPr>
          <a:lstStyle/>
          <a:p>
            <a:pPr algn="just"/>
            <a:r>
              <a:rPr lang="en-US" b="1" dirty="0"/>
              <a:t>Fig. </a:t>
            </a:r>
            <a:r>
              <a:rPr lang="en-US" b="1" dirty="0">
                <a:latin typeface="Times New Roman" pitchFamily="18" charset="0"/>
                <a:cs typeface="Times New Roman" pitchFamily="18" charset="0"/>
              </a:rPr>
              <a:t>4 </a:t>
            </a:r>
            <a:r>
              <a:rPr lang="en-US" sz="2000" dirty="0">
                <a:latin typeface="Times New Roman" pitchFamily="18" charset="0"/>
                <a:cs typeface="Times New Roman" pitchFamily="18" charset="0"/>
              </a:rPr>
              <a:t>Obtained values of the Hurst exponent (after </a:t>
            </a:r>
            <a:r>
              <a:rPr lang="en-US" sz="2000" dirty="0" err="1">
                <a:latin typeface="Times New Roman" pitchFamily="18" charset="0"/>
                <a:cs typeface="Times New Roman" pitchFamily="18" charset="0"/>
              </a:rPr>
              <a:t>detrending</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of sunspot </a:t>
            </a:r>
            <a:r>
              <a:rPr lang="en-US" sz="2000" dirty="0">
                <a:latin typeface="Times New Roman" pitchFamily="18" charset="0"/>
                <a:cs typeface="Times New Roman" pitchFamily="18" charset="0"/>
              </a:rPr>
              <a:t>numbers, F10.7 cm index and Lyman alpha index</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13102324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a:bodyPr>
          <a:lstStyle/>
          <a:p>
            <a:r>
              <a:rPr lang="en-IN" sz="3200" b="1" dirty="0">
                <a:solidFill>
                  <a:schemeClr val="accent1">
                    <a:lumMod val="75000"/>
                  </a:schemeClr>
                </a:solidFill>
                <a:latin typeface="Times New Roman" pitchFamily="18" charset="0"/>
                <a:cs typeface="Times New Roman" pitchFamily="18" charset="0"/>
              </a:rPr>
              <a:t>Simplex </a:t>
            </a:r>
            <a:r>
              <a:rPr lang="en-IN" sz="3200" b="1" dirty="0" smtClean="0">
                <a:solidFill>
                  <a:schemeClr val="accent1">
                    <a:lumMod val="75000"/>
                  </a:schemeClr>
                </a:solidFill>
                <a:latin typeface="Times New Roman" pitchFamily="18" charset="0"/>
                <a:cs typeface="Times New Roman" pitchFamily="18" charset="0"/>
              </a:rPr>
              <a:t>projection Analysis</a:t>
            </a:r>
            <a:endParaRPr lang="en-IN" sz="3200" b="1"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066800"/>
            <a:ext cx="8077200" cy="5407152"/>
          </a:xfrm>
        </p:spPr>
        <p:txBody>
          <a:bodyPr>
            <a:normAutofit/>
          </a:bodyPr>
          <a:lstStyle/>
          <a:p>
            <a:r>
              <a:rPr lang="en-US" sz="2000" dirty="0">
                <a:latin typeface="Times New Roman" pitchFamily="18" charset="0"/>
                <a:cs typeface="Times New Roman" pitchFamily="18" charset="0"/>
              </a:rPr>
              <a:t>Simplex projection, originally proposed by George </a:t>
            </a:r>
            <a:r>
              <a:rPr lang="en-US" sz="2000" dirty="0" smtClean="0">
                <a:latin typeface="Times New Roman" pitchFamily="18" charset="0"/>
                <a:cs typeface="Times New Roman" pitchFamily="18" charset="0"/>
              </a:rPr>
              <a:t>Sugihara and </a:t>
            </a:r>
            <a:r>
              <a:rPr lang="en-US" sz="2000" dirty="0">
                <a:latin typeface="Times New Roman" pitchFamily="18" charset="0"/>
                <a:cs typeface="Times New Roman" pitchFamily="18" charset="0"/>
              </a:rPr>
              <a:t>Bob May in 1990 is a powerful tool for </a:t>
            </a:r>
            <a:r>
              <a:rPr lang="en-US" sz="2000" dirty="0" smtClean="0">
                <a:latin typeface="Times New Roman" pitchFamily="18" charset="0"/>
                <a:cs typeface="Times New Roman" pitchFamily="18" charset="0"/>
              </a:rPr>
              <a:t>detecting </a:t>
            </a:r>
            <a:r>
              <a:rPr lang="en-IN" sz="2000" dirty="0" smtClean="0">
                <a:latin typeface="Times New Roman" pitchFamily="18" charset="0"/>
                <a:cs typeface="Times New Roman" pitchFamily="18" charset="0"/>
              </a:rPr>
              <a:t>patterns </a:t>
            </a:r>
            <a:r>
              <a:rPr lang="en-IN" sz="2000" dirty="0">
                <a:latin typeface="Times New Roman" pitchFamily="18" charset="0"/>
                <a:cs typeface="Times New Roman" pitchFamily="18" charset="0"/>
              </a:rPr>
              <a:t>(chaos</a:t>
            </a:r>
            <a:r>
              <a:rPr lang="en-IN" sz="2000" dirty="0" smtClean="0">
                <a:latin typeface="Times New Roman" pitchFamily="18" charset="0"/>
                <a:cs typeface="Times New Roman" pitchFamily="18" charset="0"/>
              </a:rPr>
              <a:t>).</a:t>
            </a:r>
          </a:p>
          <a:p>
            <a:r>
              <a:rPr lang="en-US" sz="2000" dirty="0">
                <a:latin typeface="Times New Roman" pitchFamily="18" charset="0"/>
                <a:cs typeface="Times New Roman" pitchFamily="18" charset="0"/>
              </a:rPr>
              <a:t>Moreover, it also tells how </a:t>
            </a:r>
            <a:r>
              <a:rPr lang="en-US" sz="2000" dirty="0" smtClean="0">
                <a:latin typeface="Times New Roman" pitchFamily="18" charset="0"/>
                <a:cs typeface="Times New Roman" pitchFamily="18" charset="0"/>
              </a:rPr>
              <a:t>complicated this </a:t>
            </a:r>
            <a:r>
              <a:rPr lang="en-US" sz="2000" dirty="0">
                <a:latin typeface="Times New Roman" pitchFamily="18" charset="0"/>
                <a:cs typeface="Times New Roman" pitchFamily="18" charset="0"/>
              </a:rPr>
              <a:t>pattern is, and then predict the future, often </a:t>
            </a:r>
            <a:r>
              <a:rPr lang="en-US" sz="2000" dirty="0" smtClean="0">
                <a:latin typeface="Times New Roman" pitchFamily="18" charset="0"/>
                <a:cs typeface="Times New Roman" pitchFamily="18" charset="0"/>
              </a:rPr>
              <a:t>with far </a:t>
            </a:r>
            <a:r>
              <a:rPr lang="en-US" sz="2000" dirty="0">
                <a:latin typeface="Times New Roman" pitchFamily="18" charset="0"/>
                <a:cs typeface="Times New Roman" pitchFamily="18" charset="0"/>
              </a:rPr>
              <a:t>greater accuracy than any other technique</a:t>
            </a:r>
            <a:r>
              <a:rPr lang="en-US" sz="2000" dirty="0" smtClean="0">
                <a:latin typeface="Times New Roman" pitchFamily="18" charset="0"/>
                <a:cs typeface="Times New Roman" pitchFamily="18" charset="0"/>
              </a:rPr>
              <a:t>.</a:t>
            </a:r>
          </a:p>
          <a:p>
            <a:pPr algn="just"/>
            <a:r>
              <a:rPr lang="en-IN" sz="2000" dirty="0">
                <a:latin typeface="Times New Roman" pitchFamily="18" charset="0"/>
                <a:cs typeface="Times New Roman" pitchFamily="18" charset="0"/>
              </a:rPr>
              <a:t>This </a:t>
            </a:r>
            <a:r>
              <a:rPr lang="en-IN" sz="2000" dirty="0" smtClean="0">
                <a:latin typeface="Times New Roman" pitchFamily="18" charset="0"/>
                <a:cs typeface="Times New Roman" pitchFamily="18" charset="0"/>
              </a:rPr>
              <a:t>technique </a:t>
            </a:r>
            <a:r>
              <a:rPr lang="en-US" sz="2000" dirty="0" smtClean="0">
                <a:latin typeface="Times New Roman" pitchFamily="18" charset="0"/>
                <a:cs typeface="Times New Roman" pitchFamily="18" charset="0"/>
              </a:rPr>
              <a:t>has </a:t>
            </a:r>
            <a:r>
              <a:rPr lang="en-US" sz="2000" dirty="0">
                <a:latin typeface="Times New Roman" pitchFamily="18" charset="0"/>
                <a:cs typeface="Times New Roman" pitchFamily="18" charset="0"/>
              </a:rPr>
              <a:t>widely been used in fields as diverse as </a:t>
            </a:r>
            <a:r>
              <a:rPr lang="en-US" sz="2000" dirty="0" smtClean="0">
                <a:latin typeface="Times New Roman" pitchFamily="18" charset="0"/>
                <a:cs typeface="Times New Roman" pitchFamily="18" charset="0"/>
              </a:rPr>
              <a:t>epidemiology, cardiology</a:t>
            </a:r>
            <a:r>
              <a:rPr lang="en-US" sz="2000" dirty="0">
                <a:latin typeface="Times New Roman" pitchFamily="18" charset="0"/>
                <a:cs typeface="Times New Roman" pitchFamily="18" charset="0"/>
              </a:rPr>
              <a:t>, neuroscience, atmospheric science, </a:t>
            </a:r>
            <a:r>
              <a:rPr lang="en-US" sz="2000" dirty="0" smtClean="0">
                <a:latin typeface="Times New Roman" pitchFamily="18" charset="0"/>
                <a:cs typeface="Times New Roman" pitchFamily="18" charset="0"/>
              </a:rPr>
              <a:t>finance, engineering </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Narisma</a:t>
            </a:r>
            <a:r>
              <a:rPr lang="en-US" sz="2000" dirty="0">
                <a:latin typeface="Times New Roman" pitchFamily="18" charset="0"/>
                <a:cs typeface="Times New Roman" pitchFamily="18" charset="0"/>
              </a:rPr>
              <a:t> and Teresa 1997; </a:t>
            </a:r>
            <a:r>
              <a:rPr lang="en-US" sz="2000" dirty="0" err="1">
                <a:latin typeface="Times New Roman" pitchFamily="18" charset="0"/>
                <a:cs typeface="Times New Roman" pitchFamily="18" charset="0"/>
              </a:rPr>
              <a:t>Narisma</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and </a:t>
            </a:r>
            <a:r>
              <a:rPr lang="en-US" sz="2000" dirty="0" err="1" smtClean="0">
                <a:latin typeface="Times New Roman" pitchFamily="18" charset="0"/>
                <a:cs typeface="Times New Roman" pitchFamily="18" charset="0"/>
              </a:rPr>
              <a:t>Villarin</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2000), ecology and </a:t>
            </a:r>
            <a:r>
              <a:rPr lang="en-US" sz="2000" dirty="0" smtClean="0">
                <a:latin typeface="Times New Roman" pitchFamily="18" charset="0"/>
                <a:cs typeface="Times New Roman" pitchFamily="18" charset="0"/>
              </a:rPr>
              <a:t>fisheries.</a:t>
            </a:r>
          </a:p>
          <a:p>
            <a:pPr algn="just"/>
            <a:r>
              <a:rPr lang="en-IN" sz="2000" dirty="0" err="1">
                <a:latin typeface="Times New Roman" pitchFamily="18" charset="0"/>
                <a:cs typeface="Times New Roman" pitchFamily="18" charset="0"/>
              </a:rPr>
              <a:t>Rozelot</a:t>
            </a:r>
            <a:r>
              <a:rPr lang="en-IN" sz="2000" dirty="0">
                <a:latin typeface="Times New Roman" pitchFamily="18" charset="0"/>
                <a:cs typeface="Times New Roman" pitchFamily="18" charset="0"/>
              </a:rPr>
              <a:t> (1994) </a:t>
            </a:r>
            <a:r>
              <a:rPr lang="en-IN" sz="2000" dirty="0" smtClean="0">
                <a:latin typeface="Times New Roman" pitchFamily="18" charset="0"/>
                <a:cs typeface="Times New Roman" pitchFamily="18" charset="0"/>
              </a:rPr>
              <a:t>used </a:t>
            </a:r>
            <a:r>
              <a:rPr lang="en-US" sz="2000" dirty="0" smtClean="0">
                <a:latin typeface="Times New Roman" pitchFamily="18" charset="0"/>
                <a:cs typeface="Times New Roman" pitchFamily="18" charset="0"/>
              </a:rPr>
              <a:t>this </a:t>
            </a:r>
            <a:r>
              <a:rPr lang="en-US" sz="2000" dirty="0">
                <a:latin typeface="Times New Roman" pitchFamily="18" charset="0"/>
                <a:cs typeface="Times New Roman" pitchFamily="18" charset="0"/>
              </a:rPr>
              <a:t>method to </a:t>
            </a:r>
            <a:r>
              <a:rPr lang="en-US" sz="2000" dirty="0" err="1">
                <a:latin typeface="Times New Roman" pitchFamily="18" charset="0"/>
                <a:cs typeface="Times New Roman" pitchFamily="18" charset="0"/>
              </a:rPr>
              <a:t>analyse</a:t>
            </a:r>
            <a:r>
              <a:rPr lang="en-US" sz="2000" dirty="0">
                <a:latin typeface="Times New Roman" pitchFamily="18" charset="0"/>
                <a:cs typeface="Times New Roman" pitchFamily="18" charset="0"/>
              </a:rPr>
              <a:t> the </a:t>
            </a:r>
            <a:r>
              <a:rPr lang="en-US" sz="2000" dirty="0" err="1">
                <a:latin typeface="Times New Roman" pitchFamily="18" charset="0"/>
                <a:cs typeface="Times New Roman" pitchFamily="18" charset="0"/>
              </a:rPr>
              <a:t>behaviour</a:t>
            </a:r>
            <a:r>
              <a:rPr lang="en-US" sz="2000" dirty="0">
                <a:latin typeface="Times New Roman" pitchFamily="18" charset="0"/>
                <a:cs typeface="Times New Roman" pitchFamily="18" charset="0"/>
              </a:rPr>
              <a:t> of solar activity</a:t>
            </a:r>
            <a:r>
              <a:rPr lang="en-US" sz="2000" dirty="0" smtClean="0">
                <a:latin typeface="Times New Roman" pitchFamily="18" charset="0"/>
                <a:cs typeface="Times New Roman" pitchFamily="18" charset="0"/>
              </a:rPr>
              <a:t>.</a:t>
            </a:r>
          </a:p>
          <a:p>
            <a:r>
              <a:rPr lang="en-IN"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simplex </a:t>
            </a:r>
            <a:r>
              <a:rPr lang="en-US" sz="2000" dirty="0">
                <a:latin typeface="Times New Roman" pitchFamily="18" charset="0"/>
                <a:cs typeface="Times New Roman" pitchFamily="18" charset="0"/>
              </a:rPr>
              <a:t>projection is a nearest-</a:t>
            </a:r>
            <a:r>
              <a:rPr lang="en-US" sz="2000" dirty="0" err="1">
                <a:latin typeface="Times New Roman" pitchFamily="18" charset="0"/>
                <a:cs typeface="Times New Roman" pitchFamily="18" charset="0"/>
              </a:rPr>
              <a:t>neighbour</a:t>
            </a:r>
            <a:r>
              <a:rPr lang="en-US" sz="2000" dirty="0">
                <a:latin typeface="Times New Roman" pitchFamily="18" charset="0"/>
                <a:cs typeface="Times New Roman" pitchFamily="18" charset="0"/>
              </a:rPr>
              <a:t> forecasting </a:t>
            </a:r>
            <a:r>
              <a:rPr lang="en-US" sz="2000" dirty="0" smtClean="0">
                <a:latin typeface="Times New Roman" pitchFamily="18" charset="0"/>
                <a:cs typeface="Times New Roman" pitchFamily="18" charset="0"/>
              </a:rPr>
              <a:t>algorithm that </a:t>
            </a:r>
            <a:r>
              <a:rPr lang="en-US" sz="2000" dirty="0">
                <a:latin typeface="Times New Roman" pitchFamily="18" charset="0"/>
                <a:cs typeface="Times New Roman" pitchFamily="18" charset="0"/>
              </a:rPr>
              <a:t>involves tracking the forward evolution of </a:t>
            </a:r>
            <a:r>
              <a:rPr lang="en-US" sz="2000" dirty="0" smtClean="0">
                <a:latin typeface="Times New Roman" pitchFamily="18" charset="0"/>
                <a:cs typeface="Times New Roman" pitchFamily="18" charset="0"/>
              </a:rPr>
              <a:t>nearby </a:t>
            </a:r>
            <a:r>
              <a:rPr lang="en-IN" sz="2000" dirty="0" smtClean="0">
                <a:latin typeface="Times New Roman" pitchFamily="18" charset="0"/>
                <a:cs typeface="Times New Roman" pitchFamily="18" charset="0"/>
              </a:rPr>
              <a:t>points.</a:t>
            </a:r>
          </a:p>
          <a:p>
            <a:pPr algn="just"/>
            <a:r>
              <a:rPr lang="en-IN" sz="2000" dirty="0">
                <a:latin typeface="Times New Roman" pitchFamily="18" charset="0"/>
                <a:cs typeface="Times New Roman" pitchFamily="18" charset="0"/>
              </a:rPr>
              <a:t>This algorithm compares </a:t>
            </a:r>
            <a:r>
              <a:rPr lang="en-IN" sz="2000" dirty="0" smtClean="0">
                <a:latin typeface="Times New Roman" pitchFamily="18" charset="0"/>
                <a:cs typeface="Times New Roman" pitchFamily="18" charset="0"/>
              </a:rPr>
              <a:t>a </a:t>
            </a:r>
            <a:r>
              <a:rPr lang="en-US" sz="2000" dirty="0" smtClean="0">
                <a:latin typeface="Times New Roman" pitchFamily="18" charset="0"/>
                <a:cs typeface="Times New Roman" pitchFamily="18" charset="0"/>
              </a:rPr>
              <a:t>library </a:t>
            </a:r>
            <a:r>
              <a:rPr lang="en-US" sz="2000" dirty="0">
                <a:latin typeface="Times New Roman" pitchFamily="18" charset="0"/>
                <a:cs typeface="Times New Roman" pitchFamily="18" charset="0"/>
              </a:rPr>
              <a:t>of (known) past patterns to patterns seen later in </a:t>
            </a:r>
            <a:r>
              <a:rPr lang="en-US" sz="2000" dirty="0" smtClean="0">
                <a:latin typeface="Times New Roman" pitchFamily="18" charset="0"/>
                <a:cs typeface="Times New Roman" pitchFamily="18" charset="0"/>
              </a:rPr>
              <a:t>the real </a:t>
            </a:r>
            <a:r>
              <a:rPr lang="en-US" sz="2000" dirty="0">
                <a:latin typeface="Times New Roman" pitchFamily="18" charset="0"/>
                <a:cs typeface="Times New Roman" pitchFamily="18" charset="0"/>
              </a:rPr>
              <a:t>time series. Thus, similar past events are used to </a:t>
            </a:r>
            <a:r>
              <a:rPr lang="en-US" sz="2000" dirty="0" smtClean="0">
                <a:latin typeface="Times New Roman" pitchFamily="18" charset="0"/>
                <a:cs typeface="Times New Roman" pitchFamily="18" charset="0"/>
              </a:rPr>
              <a:t>forecast </a:t>
            </a:r>
            <a:r>
              <a:rPr lang="en-IN" sz="2000" dirty="0" smtClean="0">
                <a:latin typeface="Times New Roman" pitchFamily="18" charset="0"/>
                <a:cs typeface="Times New Roman" pitchFamily="18" charset="0"/>
              </a:rPr>
              <a:t>the future.</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42674912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077200" cy="6169152"/>
          </a:xfrm>
        </p:spPr>
        <p:txBody>
          <a:bodyPr>
            <a:normAutofit/>
          </a:bodyPr>
          <a:lstStyle/>
          <a:p>
            <a:pPr algn="just"/>
            <a:r>
              <a:rPr lang="en-IN" sz="2000" dirty="0" smtClean="0">
                <a:latin typeface="Times New Roman" pitchFamily="18" charset="0"/>
                <a:cs typeface="Times New Roman" pitchFamily="18" charset="0"/>
              </a:rPr>
              <a:t>Now we apply this approach on the trend part of the time series shown in fig.3</a:t>
            </a:r>
          </a:p>
          <a:p>
            <a:pPr algn="just"/>
            <a:endParaRPr lang="en-IN" sz="2000" dirty="0" smtClean="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Using the sunspots, the F10.7 </a:t>
            </a:r>
            <a:r>
              <a:rPr lang="en-US" sz="2000" dirty="0" smtClean="0">
                <a:latin typeface="Times New Roman" pitchFamily="18" charset="0"/>
                <a:cs typeface="Times New Roman" pitchFamily="18" charset="0"/>
              </a:rPr>
              <a:t>cm index </a:t>
            </a:r>
            <a:r>
              <a:rPr lang="en-US" sz="2000" dirty="0">
                <a:latin typeface="Times New Roman" pitchFamily="18" charset="0"/>
                <a:cs typeface="Times New Roman" pitchFamily="18" charset="0"/>
              </a:rPr>
              <a:t>and the Lyman alpha index data available for the </a:t>
            </a:r>
            <a:r>
              <a:rPr lang="en-US" sz="2000" dirty="0" smtClean="0">
                <a:latin typeface="Times New Roman" pitchFamily="18" charset="0"/>
                <a:cs typeface="Times New Roman" pitchFamily="18" charset="0"/>
              </a:rPr>
              <a:t>period 1976–2017</a:t>
            </a:r>
            <a:r>
              <a:rPr lang="en-US" sz="2000" dirty="0">
                <a:latin typeface="Times New Roman" pitchFamily="18" charset="0"/>
                <a:cs typeface="Times New Roman" pitchFamily="18" charset="0"/>
              </a:rPr>
              <a:t>, we have obtained the data points for </a:t>
            </a:r>
            <a:r>
              <a:rPr lang="en-US" sz="2000" dirty="0" smtClean="0">
                <a:latin typeface="Times New Roman" pitchFamily="18" charset="0"/>
                <a:cs typeface="Times New Roman" pitchFamily="18" charset="0"/>
              </a:rPr>
              <a:t>the prediction </a:t>
            </a:r>
            <a:r>
              <a:rPr lang="en-US" sz="2000" dirty="0">
                <a:latin typeface="Times New Roman" pitchFamily="18" charset="0"/>
                <a:cs typeface="Times New Roman" pitchFamily="18" charset="0"/>
              </a:rPr>
              <a:t>of next solar cycles 25 and 26 by adopting </a:t>
            </a:r>
            <a:r>
              <a:rPr lang="en-US" sz="2000" dirty="0" smtClean="0">
                <a:latin typeface="Times New Roman" pitchFamily="18" charset="0"/>
                <a:cs typeface="Times New Roman" pitchFamily="18" charset="0"/>
              </a:rPr>
              <a:t>the </a:t>
            </a:r>
            <a:r>
              <a:rPr lang="en-IN" sz="2000" dirty="0" smtClean="0">
                <a:latin typeface="Times New Roman" pitchFamily="18" charset="0"/>
                <a:cs typeface="Times New Roman" pitchFamily="18" charset="0"/>
              </a:rPr>
              <a:t>simplex </a:t>
            </a:r>
            <a:r>
              <a:rPr lang="en-IN" sz="2000" dirty="0">
                <a:latin typeface="Times New Roman" pitchFamily="18" charset="0"/>
                <a:cs typeface="Times New Roman" pitchFamily="18" charset="0"/>
              </a:rPr>
              <a:t>projection analysis.</a:t>
            </a:r>
          </a:p>
        </p:txBody>
      </p:sp>
    </p:spTree>
    <p:extLst>
      <p:ext uri="{BB962C8B-B14F-4D97-AF65-F5344CB8AC3E}">
        <p14:creationId xmlns:p14="http://schemas.microsoft.com/office/powerpoint/2010/main" xmlns="" val="24377933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Users\Asheesh\Desktop\PAPER_6_R1\PICs\Fig_5.bmp"/>
          <p:cNvPicPr/>
          <p:nvPr/>
        </p:nvPicPr>
        <p:blipFill>
          <a:blip r:embed="rId2">
            <a:extLst>
              <a:ext uri="{28A0092B-C50C-407E-A947-70E740481C1C}">
                <a14:useLocalDpi xmlns:a14="http://schemas.microsoft.com/office/drawing/2010/main" xmlns="" val="0"/>
              </a:ext>
            </a:extLst>
          </a:blip>
          <a:srcRect/>
          <a:stretch>
            <a:fillRect/>
          </a:stretch>
        </p:blipFill>
        <p:spPr bwMode="auto">
          <a:xfrm>
            <a:off x="2257423" y="152400"/>
            <a:ext cx="6477001" cy="6553200"/>
          </a:xfrm>
          <a:prstGeom prst="rect">
            <a:avLst/>
          </a:prstGeom>
          <a:noFill/>
          <a:ln>
            <a:noFill/>
          </a:ln>
        </p:spPr>
      </p:pic>
      <p:sp>
        <p:nvSpPr>
          <p:cNvPr id="6" name="TextBox 5"/>
          <p:cNvSpPr txBox="1"/>
          <p:nvPr/>
        </p:nvSpPr>
        <p:spPr>
          <a:xfrm>
            <a:off x="152400" y="914400"/>
            <a:ext cx="2209799" cy="2585323"/>
          </a:xfrm>
          <a:prstGeom prst="rect">
            <a:avLst/>
          </a:prstGeom>
          <a:noFill/>
        </p:spPr>
        <p:txBody>
          <a:bodyPr wrap="square" rtlCol="0">
            <a:spAutoFit/>
          </a:bodyPr>
          <a:lstStyle/>
          <a:p>
            <a:pPr algn="just"/>
            <a:r>
              <a:rPr lang="en-US" b="1" dirty="0"/>
              <a:t>Fig. 5 </a:t>
            </a:r>
            <a:r>
              <a:rPr lang="en-US" dirty="0" smtClean="0"/>
              <a:t>Monthly variations </a:t>
            </a:r>
            <a:r>
              <a:rPr lang="en-US" dirty="0"/>
              <a:t>of the observed and </a:t>
            </a:r>
            <a:r>
              <a:rPr lang="en-US" dirty="0" smtClean="0"/>
              <a:t>predicted (dotted</a:t>
            </a:r>
            <a:r>
              <a:rPr lang="en-US" dirty="0"/>
              <a:t>) </a:t>
            </a:r>
            <a:r>
              <a:rPr lang="en-US" dirty="0" smtClean="0"/>
              <a:t>values of </a:t>
            </a:r>
            <a:r>
              <a:rPr lang="en-US" dirty="0"/>
              <a:t>the sunspot numbers, F10.7 cm index and Lyman alpha index</a:t>
            </a:r>
            <a:endParaRPr lang="en-IN" dirty="0"/>
          </a:p>
        </p:txBody>
      </p:sp>
    </p:spTree>
    <p:extLst>
      <p:ext uri="{BB962C8B-B14F-4D97-AF65-F5344CB8AC3E}">
        <p14:creationId xmlns:p14="http://schemas.microsoft.com/office/powerpoint/2010/main" xmlns="" val="33556000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_6"/>
          <p:cNvPicPr/>
          <p:nvPr/>
        </p:nvPicPr>
        <p:blipFill>
          <a:blip r:embed="rId2"/>
          <a:srcRect/>
          <a:stretch>
            <a:fillRect/>
          </a:stretch>
        </p:blipFill>
        <p:spPr bwMode="auto">
          <a:xfrm>
            <a:off x="76200" y="381000"/>
            <a:ext cx="8763000" cy="3581400"/>
          </a:xfrm>
          <a:prstGeom prst="rect">
            <a:avLst/>
          </a:prstGeom>
          <a:noFill/>
          <a:ln w="9525">
            <a:noFill/>
            <a:miter lim="800000"/>
            <a:headEnd/>
            <a:tailEnd/>
          </a:ln>
        </p:spPr>
      </p:pic>
      <p:sp>
        <p:nvSpPr>
          <p:cNvPr id="5" name="TextBox 4"/>
          <p:cNvSpPr txBox="1"/>
          <p:nvPr/>
        </p:nvSpPr>
        <p:spPr>
          <a:xfrm>
            <a:off x="762000" y="4191000"/>
            <a:ext cx="7620000" cy="707886"/>
          </a:xfrm>
          <a:prstGeom prst="rect">
            <a:avLst/>
          </a:prstGeom>
          <a:noFill/>
        </p:spPr>
        <p:txBody>
          <a:bodyPr wrap="square" rtlCol="0">
            <a:spAutoFit/>
          </a:bodyPr>
          <a:lstStyle/>
          <a:p>
            <a:r>
              <a:rPr lang="en-US" sz="2000" b="1" dirty="0">
                <a:latin typeface="Times New Roman" pitchFamily="18" charset="0"/>
                <a:cs typeface="Times New Roman" pitchFamily="18" charset="0"/>
              </a:rPr>
              <a:t>Fig. 6 </a:t>
            </a:r>
            <a:r>
              <a:rPr lang="en-US" sz="2000" dirty="0">
                <a:latin typeface="Times New Roman" pitchFamily="18" charset="0"/>
                <a:cs typeface="Times New Roman" pitchFamily="18" charset="0"/>
              </a:rPr>
              <a:t>Yearly average </a:t>
            </a:r>
            <a:r>
              <a:rPr lang="en-US" sz="2000" dirty="0" smtClean="0">
                <a:latin typeface="Times New Roman" pitchFamily="18" charset="0"/>
                <a:cs typeface="Times New Roman" pitchFamily="18" charset="0"/>
              </a:rPr>
              <a:t>numbers of </a:t>
            </a:r>
            <a:r>
              <a:rPr lang="en-US" sz="2000" dirty="0">
                <a:latin typeface="Times New Roman" pitchFamily="18" charset="0"/>
                <a:cs typeface="Times New Roman" pitchFamily="18" charset="0"/>
              </a:rPr>
              <a:t>sunspots (SSN) from the </a:t>
            </a:r>
            <a:r>
              <a:rPr lang="en-US" sz="2000" dirty="0" smtClean="0">
                <a:latin typeface="Times New Roman" pitchFamily="18" charset="0"/>
                <a:cs typeface="Times New Roman" pitchFamily="18" charset="0"/>
              </a:rPr>
              <a:t>year 1700 </a:t>
            </a:r>
            <a:r>
              <a:rPr lang="en-US" sz="2000" dirty="0">
                <a:latin typeface="Times New Roman" pitchFamily="18" charset="0"/>
                <a:cs typeface="Times New Roman" pitchFamily="18" charset="0"/>
              </a:rPr>
              <a:t>to the present and </a:t>
            </a:r>
            <a:r>
              <a:rPr lang="en-US" sz="2000" dirty="0" smtClean="0">
                <a:latin typeface="Times New Roman" pitchFamily="18" charset="0"/>
                <a:cs typeface="Times New Roman" pitchFamily="18" charset="0"/>
              </a:rPr>
              <a:t>the </a:t>
            </a:r>
            <a:r>
              <a:rPr lang="en-IN" sz="2000" dirty="0" smtClean="0">
                <a:latin typeface="Times New Roman" pitchFamily="18" charset="0"/>
                <a:cs typeface="Times New Roman" pitchFamily="18" charset="0"/>
              </a:rPr>
              <a:t>predicted values.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25983927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09600"/>
            <a:ext cx="8458200" cy="5864352"/>
          </a:xfrm>
        </p:spPr>
        <p:txBody>
          <a:bodyPr>
            <a:normAutofit/>
          </a:bodyPr>
          <a:lstStyle/>
          <a:p>
            <a:r>
              <a:rPr lang="en-US" sz="2000" dirty="0">
                <a:latin typeface="Times New Roman" pitchFamily="18" charset="0"/>
                <a:cs typeface="Times New Roman" pitchFamily="18" charset="0"/>
              </a:rPr>
              <a:t>Figure 6 has showed </a:t>
            </a:r>
            <a:r>
              <a:rPr lang="en-US" sz="2000" dirty="0" smtClean="0">
                <a:latin typeface="Times New Roman" pitchFamily="18" charset="0"/>
                <a:cs typeface="Times New Roman" pitchFamily="18" charset="0"/>
              </a:rPr>
              <a:t>the long </a:t>
            </a:r>
            <a:r>
              <a:rPr lang="en-US" sz="2000" dirty="0">
                <a:latin typeface="Times New Roman" pitchFamily="18" charset="0"/>
                <a:cs typeface="Times New Roman" pitchFamily="18" charset="0"/>
              </a:rPr>
              <a:t>term (1700–2043) variations of observed and </a:t>
            </a:r>
            <a:r>
              <a:rPr lang="en-US" sz="2000" dirty="0" smtClean="0">
                <a:latin typeface="Times New Roman" pitchFamily="18" charset="0"/>
                <a:cs typeface="Times New Roman" pitchFamily="18" charset="0"/>
              </a:rPr>
              <a:t>predicted sunspot </a:t>
            </a:r>
            <a:r>
              <a:rPr lang="en-US" sz="2000" dirty="0">
                <a:latin typeface="Times New Roman" pitchFamily="18" charset="0"/>
                <a:cs typeface="Times New Roman" pitchFamily="18" charset="0"/>
              </a:rPr>
              <a:t>numbers. </a:t>
            </a: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figure has indicated that the solar </a:t>
            </a:r>
            <a:r>
              <a:rPr lang="en-US" sz="2000" dirty="0" smtClean="0">
                <a:latin typeface="Times New Roman" pitchFamily="18" charset="0"/>
                <a:cs typeface="Times New Roman" pitchFamily="18" charset="0"/>
              </a:rPr>
              <a:t>cycles 25 </a:t>
            </a:r>
            <a:r>
              <a:rPr lang="en-US" sz="2000" dirty="0">
                <a:latin typeface="Times New Roman" pitchFamily="18" charset="0"/>
                <a:cs typeface="Times New Roman" pitchFamily="18" charset="0"/>
              </a:rPr>
              <a:t>and 26 will have lower solar activity and very </a:t>
            </a:r>
            <a:r>
              <a:rPr lang="en-US" sz="2000" dirty="0" smtClean="0">
                <a:latin typeface="Times New Roman" pitchFamily="18" charset="0"/>
                <a:cs typeface="Times New Roman" pitchFamily="18" charset="0"/>
              </a:rPr>
              <a:t>much comparable </a:t>
            </a:r>
            <a:r>
              <a:rPr lang="en-US" sz="2000" dirty="0">
                <a:latin typeface="Times New Roman" pitchFamily="18" charset="0"/>
                <a:cs typeface="Times New Roman" pitchFamily="18" charset="0"/>
              </a:rPr>
              <a:t>to solar cycles 5 and 6</a:t>
            </a:r>
            <a:r>
              <a:rPr lang="en-US" sz="2000" dirty="0" smtClean="0">
                <a:latin typeface="Times New Roman" pitchFamily="18" charset="0"/>
                <a:cs typeface="Times New Roman" pitchFamily="18" charset="0"/>
              </a:rPr>
              <a:t>.</a:t>
            </a:r>
          </a:p>
          <a:p>
            <a:endParaRPr lang="en-US" sz="2000" dirty="0" smtClean="0">
              <a:latin typeface="Times New Roman" pitchFamily="18" charset="0"/>
              <a:cs typeface="Times New Roman" pitchFamily="18" charset="0"/>
            </a:endParaRPr>
          </a:p>
          <a:p>
            <a:r>
              <a:rPr lang="en-US" sz="2000" dirty="0">
                <a:latin typeface="Times New Roman" pitchFamily="18" charset="0"/>
                <a:cs typeface="Times New Roman" pitchFamily="18" charset="0"/>
              </a:rPr>
              <a:t>But the nature of </a:t>
            </a:r>
            <a:r>
              <a:rPr lang="en-US" sz="2000" dirty="0" smtClean="0">
                <a:latin typeface="Times New Roman" pitchFamily="18" charset="0"/>
                <a:cs typeface="Times New Roman" pitchFamily="18" charset="0"/>
              </a:rPr>
              <a:t>solar cycles </a:t>
            </a:r>
            <a:r>
              <a:rPr lang="en-US" sz="2000" dirty="0">
                <a:latin typeface="Times New Roman" pitchFamily="18" charset="0"/>
                <a:cs typeface="Times New Roman" pitchFamily="18" charset="0"/>
              </a:rPr>
              <a:t>25 and 26 would be different in comparison to </a:t>
            </a:r>
            <a:r>
              <a:rPr lang="en-US" sz="2000" dirty="0" smtClean="0">
                <a:latin typeface="Times New Roman" pitchFamily="18" charset="0"/>
                <a:cs typeface="Times New Roman" pitchFamily="18" charset="0"/>
              </a:rPr>
              <a:t>Dalton minima </a:t>
            </a:r>
            <a:r>
              <a:rPr lang="en-US" sz="2000" dirty="0">
                <a:latin typeface="Times New Roman" pitchFamily="18" charset="0"/>
                <a:cs typeface="Times New Roman" pitchFamily="18" charset="0"/>
              </a:rPr>
              <a:t>(cycles 5 and 6) because cycles 25 and 26 </a:t>
            </a:r>
            <a:r>
              <a:rPr lang="en-US" sz="2000" dirty="0" smtClean="0">
                <a:latin typeface="Times New Roman" pitchFamily="18" charset="0"/>
                <a:cs typeface="Times New Roman" pitchFamily="18" charset="0"/>
              </a:rPr>
              <a:t>have showed </a:t>
            </a:r>
            <a:r>
              <a:rPr lang="en-US" sz="2000" dirty="0">
                <a:latin typeface="Times New Roman" pitchFamily="18" charset="0"/>
                <a:cs typeface="Times New Roman" pitchFamily="18" charset="0"/>
              </a:rPr>
              <a:t>a continuous trend of decreasing solar activity </a:t>
            </a:r>
            <a:r>
              <a:rPr lang="en-US" sz="2000" dirty="0" smtClean="0">
                <a:latin typeface="Times New Roman" pitchFamily="18" charset="0"/>
                <a:cs typeface="Times New Roman" pitchFamily="18" charset="0"/>
              </a:rPr>
              <a:t>since last </a:t>
            </a:r>
            <a:r>
              <a:rPr lang="en-US" sz="2000" dirty="0">
                <a:latin typeface="Times New Roman" pitchFamily="18" charset="0"/>
                <a:cs typeface="Times New Roman" pitchFamily="18" charset="0"/>
              </a:rPr>
              <a:t>four solar cycles while the Dalton minima was </a:t>
            </a:r>
            <a:r>
              <a:rPr lang="en-US" sz="2000" dirty="0" smtClean="0">
                <a:latin typeface="Times New Roman" pitchFamily="18" charset="0"/>
                <a:cs typeface="Times New Roman" pitchFamily="18" charset="0"/>
              </a:rPr>
              <a:t>observed in </a:t>
            </a:r>
            <a:r>
              <a:rPr lang="en-US" sz="2000" dirty="0">
                <a:latin typeface="Times New Roman" pitchFamily="18" charset="0"/>
                <a:cs typeface="Times New Roman" pitchFamily="18" charset="0"/>
              </a:rPr>
              <a:t>between high solar activity cycles</a:t>
            </a:r>
            <a:r>
              <a:rPr lang="en-US" sz="2000" dirty="0" smtClean="0">
                <a:latin typeface="Times New Roman" pitchFamily="18" charset="0"/>
                <a:cs typeface="Times New Roman" pitchFamily="18" charset="0"/>
              </a:rPr>
              <a:t>.</a:t>
            </a:r>
          </a:p>
          <a:p>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4837153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a:bodyPr>
          <a:lstStyle/>
          <a:p>
            <a:r>
              <a:rPr lang="en-IN" sz="3200" b="1" dirty="0">
                <a:solidFill>
                  <a:schemeClr val="accent1">
                    <a:lumMod val="75000"/>
                  </a:schemeClr>
                </a:solidFill>
                <a:latin typeface="Times New Roman" pitchFamily="18" charset="0"/>
                <a:cs typeface="Times New Roman" pitchFamily="18" charset="0"/>
              </a:rPr>
              <a:t>Results and </a:t>
            </a:r>
            <a:r>
              <a:rPr lang="en-IN" sz="3200" b="1" dirty="0" smtClean="0">
                <a:solidFill>
                  <a:schemeClr val="accent1">
                    <a:lumMod val="75000"/>
                  </a:schemeClr>
                </a:solidFill>
                <a:latin typeface="Times New Roman" pitchFamily="18" charset="0"/>
                <a:cs typeface="Times New Roman" pitchFamily="18" charset="0"/>
              </a:rPr>
              <a:t>conclusions</a:t>
            </a:r>
            <a:endParaRPr lang="en-IN" sz="3200" dirty="0">
              <a:solidFill>
                <a:schemeClr val="accent1">
                  <a:lumMod val="75000"/>
                </a:schemeClr>
              </a:solidFill>
              <a:latin typeface="Times New Roman" pitchFamily="18" charset="0"/>
              <a:cs typeface="Times New Roman" pitchFamily="18" charset="0"/>
            </a:endParaRPr>
          </a:p>
        </p:txBody>
      </p:sp>
      <mc:AlternateContent xmlns:mc="http://schemas.openxmlformats.org/markup-compatibility/2006">
        <mc:Choice xmlns:a14="http://schemas.microsoft.com/office/drawing/2010/main" xmlns="" Requires="a14">
          <p:sp>
            <p:nvSpPr>
              <p:cNvPr id="3" name="Content Placeholder 2"/>
              <p:cNvSpPr>
                <a:spLocks noGrp="1"/>
              </p:cNvSpPr>
              <p:nvPr>
                <p:ph sz="quarter" idx="1"/>
              </p:nvPr>
            </p:nvSpPr>
            <p:spPr>
              <a:xfrm>
                <a:off x="457200" y="990600"/>
                <a:ext cx="8077200" cy="5483352"/>
              </a:xfrm>
            </p:spPr>
            <p:txBody>
              <a:bodyPr>
                <a:normAutofit/>
              </a:bodyPr>
              <a:lstStyle/>
              <a:p>
                <a:pPr algn="just"/>
                <a:r>
                  <a:rPr lang="en-US" sz="2000" dirty="0">
                    <a:latin typeface="Times New Roman" pitchFamily="18" charset="0"/>
                    <a:cs typeface="Times New Roman" pitchFamily="18" charset="0"/>
                  </a:rPr>
                  <a:t>W</a:t>
                </a:r>
                <a:r>
                  <a:rPr lang="en-US" sz="2000" dirty="0" smtClean="0">
                    <a:latin typeface="Times New Roman" pitchFamily="18" charset="0"/>
                    <a:cs typeface="Times New Roman" pitchFamily="18" charset="0"/>
                  </a:rPr>
                  <a:t>e </a:t>
                </a:r>
                <a:r>
                  <a:rPr lang="en-US" sz="2000" dirty="0">
                    <a:latin typeface="Times New Roman" pitchFamily="18" charset="0"/>
                    <a:cs typeface="Times New Roman" pitchFamily="18" charset="0"/>
                  </a:rPr>
                  <a:t>have calculated the </a:t>
                </a:r>
                <a:r>
                  <a:rPr lang="en-US" sz="2000" dirty="0" smtClean="0">
                    <a:latin typeface="Times New Roman" pitchFamily="18" charset="0"/>
                    <a:cs typeface="Times New Roman" pitchFamily="18" charset="0"/>
                  </a:rPr>
                  <a:t>value of </a:t>
                </a:r>
                <a:r>
                  <a:rPr lang="en-US" sz="2000" dirty="0">
                    <a:latin typeface="Times New Roman" pitchFamily="18" charset="0"/>
                    <a:cs typeface="Times New Roman" pitchFamily="18" charset="0"/>
                  </a:rPr>
                  <a:t>Hurst exponent for sunspot numbers, F10.7 cm index </a:t>
                </a:r>
                <a:r>
                  <a:rPr lang="en-US" sz="2000" dirty="0" smtClean="0">
                    <a:latin typeface="Times New Roman" pitchFamily="18" charset="0"/>
                    <a:cs typeface="Times New Roman" pitchFamily="18" charset="0"/>
                  </a:rPr>
                  <a:t>and</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Lyman alpha index and the obtained H values were </a:t>
                </a:r>
                <a:r>
                  <a:rPr lang="en-US" sz="2000" dirty="0" smtClean="0">
                    <a:latin typeface="Times New Roman" pitchFamily="18" charset="0"/>
                    <a:cs typeface="Times New Roman" pitchFamily="18" charset="0"/>
                  </a:rPr>
                  <a:t>0.90,0.93 </a:t>
                </a:r>
                <a:r>
                  <a:rPr lang="en-US" sz="2000" dirty="0">
                    <a:latin typeface="Times New Roman" pitchFamily="18" charset="0"/>
                    <a:cs typeface="Times New Roman" pitchFamily="18" charset="0"/>
                  </a:rPr>
                  <a:t>and 0.96 respectively which were very close to 1</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simply </a:t>
                </a:r>
                <a:r>
                  <a:rPr lang="en-US" sz="2000" dirty="0">
                    <a:latin typeface="Times New Roman" pitchFamily="18" charset="0"/>
                    <a:cs typeface="Times New Roman" pitchFamily="18" charset="0"/>
                  </a:rPr>
                  <a:t>implied that these parameters had showed more </a:t>
                </a:r>
                <a:r>
                  <a:rPr lang="en-US" sz="2000" dirty="0" smtClean="0">
                    <a:latin typeface="Times New Roman" pitchFamily="18" charset="0"/>
                    <a:cs typeface="Times New Roman" pitchFamily="18" charset="0"/>
                  </a:rPr>
                  <a:t>persistence and </a:t>
                </a:r>
                <a:r>
                  <a:rPr lang="en-US" sz="2000" dirty="0">
                    <a:latin typeface="Times New Roman" pitchFamily="18" charset="0"/>
                    <a:cs typeface="Times New Roman" pitchFamily="18" charset="0"/>
                  </a:rPr>
                  <a:t>carried a ‘memory’ of all preceded events </a:t>
                </a:r>
                <a:r>
                  <a:rPr lang="en-US" sz="2000" dirty="0" smtClean="0">
                    <a:latin typeface="Times New Roman" pitchFamily="18" charset="0"/>
                    <a:cs typeface="Times New Roman" pitchFamily="18" charset="0"/>
                  </a:rPr>
                  <a:t>and their </a:t>
                </a:r>
                <a:r>
                  <a:rPr lang="en-US" sz="2000" dirty="0">
                    <a:latin typeface="Times New Roman" pitchFamily="18" charset="0"/>
                    <a:cs typeface="Times New Roman" pitchFamily="18" charset="0"/>
                  </a:rPr>
                  <a:t>future variations can be predicted with a better accuracy</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next solar cycle (cycle 25) will start </a:t>
                </a:r>
                <a:r>
                  <a:rPr lang="en-US" sz="2000" dirty="0" smtClean="0">
                    <a:latin typeface="Times New Roman" pitchFamily="18" charset="0"/>
                    <a:cs typeface="Times New Roman" pitchFamily="18" charset="0"/>
                  </a:rPr>
                  <a:t>in 2021 </a:t>
                </a:r>
                <a:r>
                  <a:rPr lang="en-US" sz="2000" dirty="0">
                    <a:latin typeface="Times New Roman" pitchFamily="18" charset="0"/>
                    <a:cs typeface="Times New Roman" pitchFamily="18" charset="0"/>
                  </a:rPr>
                  <a:t>(January) and would last till the year 2031 (</a:t>
                </a:r>
                <a:r>
                  <a:rPr lang="en-US" sz="2000" dirty="0" smtClean="0">
                    <a:latin typeface="Times New Roman" pitchFamily="18" charset="0"/>
                    <a:cs typeface="Times New Roman" pitchFamily="18" charset="0"/>
                  </a:rPr>
                  <a:t>February) while </a:t>
                </a:r>
                <a:r>
                  <a:rPr lang="en-US" sz="2000" dirty="0">
                    <a:latin typeface="Times New Roman" pitchFamily="18" charset="0"/>
                    <a:cs typeface="Times New Roman" pitchFamily="18" charset="0"/>
                  </a:rPr>
                  <a:t>the maxima of the cycle would reach around </a:t>
                </a:r>
                <a:r>
                  <a:rPr lang="en-US" sz="2000" dirty="0" smtClean="0">
                    <a:latin typeface="Times New Roman" pitchFamily="18" charset="0"/>
                    <a:cs typeface="Times New Roman" pitchFamily="18" charset="0"/>
                  </a:rPr>
                  <a:t>the year </a:t>
                </a:r>
                <a:r>
                  <a:rPr lang="en-US" sz="2000" dirty="0">
                    <a:latin typeface="Times New Roman" pitchFamily="18" charset="0"/>
                    <a:cs typeface="Times New Roman" pitchFamily="18" charset="0"/>
                  </a:rPr>
                  <a:t>2024 (February) with sunspot numbers, F10.7 cm </a:t>
                </a:r>
                <a:r>
                  <a:rPr lang="en-US" sz="2000" dirty="0" smtClean="0">
                    <a:latin typeface="Times New Roman" pitchFamily="18" charset="0"/>
                    <a:cs typeface="Times New Roman" pitchFamily="18" charset="0"/>
                  </a:rPr>
                  <a:t>index and Lyman </a:t>
                </a:r>
                <a:r>
                  <a:rPr lang="en-US" sz="2000" dirty="0">
                    <a:latin typeface="Times New Roman" pitchFamily="18" charset="0"/>
                    <a:cs typeface="Times New Roman" pitchFamily="18" charset="0"/>
                  </a:rPr>
                  <a:t>alpha index values 89 </a:t>
                </a:r>
                <a14:m>
                  <m:oMath xmlns:m="http://schemas.openxmlformats.org/officeDocument/2006/math">
                    <m:r>
                      <a:rPr lang="en-US" sz="2000" i="1" smtClean="0">
                        <a:latin typeface="Cambria Math"/>
                        <a:ea typeface="Cambria Math"/>
                        <a:cs typeface="Times New Roman" pitchFamily="18" charset="0"/>
                      </a:rPr>
                      <m:t>±</m:t>
                    </m:r>
                  </m:oMath>
                </a14:m>
                <a:r>
                  <a:rPr lang="en-US" sz="2000" dirty="0" smtClean="0">
                    <a:latin typeface="Times New Roman" pitchFamily="18" charset="0"/>
                    <a:cs typeface="Times New Roman" pitchFamily="18" charset="0"/>
                  </a:rPr>
                  <a:t> 9, 124</a:t>
                </a:r>
                <a14:m>
                  <m:oMath xmlns:m="http://schemas.openxmlformats.org/officeDocument/2006/math">
                    <m:r>
                      <a:rPr lang="en-US" sz="2000" i="1">
                        <a:latin typeface="Cambria Math"/>
                        <a:ea typeface="Cambria Math"/>
                        <a:cs typeface="Times New Roman" pitchFamily="18" charset="0"/>
                      </a:rPr>
                      <m:t>±</m:t>
                    </m:r>
                  </m:oMath>
                </a14:m>
                <a:r>
                  <a:rPr lang="en-IN" sz="2000" dirty="0" smtClean="0">
                    <a:latin typeface="Times New Roman" pitchFamily="18" charset="0"/>
                    <a:cs typeface="Times New Roman" pitchFamily="18" charset="0"/>
                  </a:rPr>
                  <a:t>11 and </a:t>
                </a:r>
                <a:r>
                  <a:rPr lang="en-IN" sz="2000" dirty="0">
                    <a:latin typeface="Times New Roman" pitchFamily="18" charset="0"/>
                    <a:cs typeface="Times New Roman" pitchFamily="18" charset="0"/>
                  </a:rPr>
                  <a:t>4</a:t>
                </a:r>
                <a:r>
                  <a:rPr lang="en-IN" sz="2000" i="1" dirty="0">
                    <a:latin typeface="Times New Roman" pitchFamily="18" charset="0"/>
                    <a:cs typeface="Times New Roman" pitchFamily="18" charset="0"/>
                  </a:rPr>
                  <a:t>.</a:t>
                </a:r>
                <a:r>
                  <a:rPr lang="en-IN" sz="2000" dirty="0">
                    <a:latin typeface="Times New Roman" pitchFamily="18" charset="0"/>
                    <a:cs typeface="Times New Roman" pitchFamily="18" charset="0"/>
                  </a:rPr>
                  <a:t>61 </a:t>
                </a:r>
                <a14:m>
                  <m:oMath xmlns:m="http://schemas.openxmlformats.org/officeDocument/2006/math">
                    <m:r>
                      <a:rPr lang="en-US" sz="2000" i="1">
                        <a:latin typeface="Cambria Math"/>
                        <a:ea typeface="Cambria Math"/>
                        <a:cs typeface="Times New Roman" pitchFamily="18" charset="0"/>
                      </a:rPr>
                      <m:t>±</m:t>
                    </m:r>
                  </m:oMath>
                </a14:m>
                <a:r>
                  <a:rPr lang="en-IN" sz="2000" dirty="0" smtClean="0">
                    <a:latin typeface="Times New Roman" pitchFamily="18" charset="0"/>
                    <a:cs typeface="Times New Roman" pitchFamily="18" charset="0"/>
                  </a:rPr>
                  <a:t> 0.8</a:t>
                </a:r>
                <a:r>
                  <a:rPr lang="en-IN" sz="2000" dirty="0">
                    <a:latin typeface="Times New Roman" pitchFamily="18" charset="0"/>
                    <a:cs typeface="Times New Roman" pitchFamily="18" charset="0"/>
                  </a:rPr>
                  <a:t> respectively</a:t>
                </a:r>
                <a:r>
                  <a:rPr lang="en-IN" sz="2000" dirty="0" smtClean="0">
                    <a:latin typeface="Times New Roman" pitchFamily="18" charset="0"/>
                    <a:cs typeface="Times New Roman" pitchFamily="18" charset="0"/>
                  </a:rPr>
                  <a:t>.</a:t>
                </a: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xfrm>
                <a:off x="457200" y="990600"/>
                <a:ext cx="8077200" cy="5483352"/>
              </a:xfrm>
              <a:blipFill rotWithShape="1">
                <a:blip r:embed="rId2"/>
                <a:stretch>
                  <a:fillRect l="-75" t="-556" r="-755"/>
                </a:stretch>
              </a:blipFill>
            </p:spPr>
            <p:txBody>
              <a:bodyPr/>
              <a:lstStyle/>
              <a:p>
                <a:r>
                  <a:rPr lang="en-IN">
                    <a:noFill/>
                  </a:rPr>
                  <a:t> </a:t>
                </a:r>
              </a:p>
            </p:txBody>
          </p:sp>
        </mc:Fallback>
      </mc:AlternateContent>
    </p:spTree>
    <p:extLst>
      <p:ext uri="{BB962C8B-B14F-4D97-AF65-F5344CB8AC3E}">
        <p14:creationId xmlns:p14="http://schemas.microsoft.com/office/powerpoint/2010/main" xmlns="" val="7261550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Content Placeholder 2"/>
              <p:cNvSpPr>
                <a:spLocks noGrp="1"/>
              </p:cNvSpPr>
              <p:nvPr>
                <p:ph sz="quarter" idx="1"/>
              </p:nvPr>
            </p:nvSpPr>
            <p:spPr>
              <a:xfrm>
                <a:off x="457200" y="228600"/>
                <a:ext cx="8077200" cy="6245352"/>
              </a:xfrm>
            </p:spPr>
            <p:txBody>
              <a:bodyPr>
                <a:normAutofit/>
              </a:bodyPr>
              <a:lstStyle/>
              <a:p>
                <a:pPr algn="just"/>
                <a:r>
                  <a:rPr lang="en-US" sz="2000" dirty="0">
                    <a:latin typeface="Times New Roman" pitchFamily="18" charset="0"/>
                    <a:cs typeface="Times New Roman" pitchFamily="18" charset="0"/>
                  </a:rPr>
                  <a:t>T</a:t>
                </a:r>
                <a:r>
                  <a:rPr lang="en-US" sz="2000" dirty="0" smtClean="0">
                    <a:latin typeface="Times New Roman" pitchFamily="18" charset="0"/>
                    <a:cs typeface="Times New Roman" pitchFamily="18" charset="0"/>
                  </a:rPr>
                  <a:t>he cycle 26 will start in 2031 (March) and will last till 2043 (February) and its maxima will reach during the year 2036 (June) with the particular values of sunspot numbers, F10.7 cm index and Lyman alpha index as 78</a:t>
                </a:r>
                <a14:m>
                  <m:oMath xmlns:m="http://schemas.openxmlformats.org/officeDocument/2006/math">
                    <m:r>
                      <a:rPr lang="en-US" sz="2000" i="1" smtClean="0">
                        <a:latin typeface="Cambria Math"/>
                        <a:ea typeface="Cambria Math"/>
                        <a:cs typeface="Times New Roman" pitchFamily="18" charset="0"/>
                      </a:rPr>
                      <m:t>±</m:t>
                    </m:r>
                    <m:r>
                      <a:rPr lang="en-IN" sz="2000" b="0" i="1" smtClean="0">
                        <a:latin typeface="Cambria Math"/>
                        <a:ea typeface="Cambria Math"/>
                        <a:cs typeface="Times New Roman" pitchFamily="18" charset="0"/>
                      </a:rPr>
                      <m:t>7, 118±9 </m:t>
                    </m:r>
                  </m:oMath>
                </a14:m>
                <a:r>
                  <a:rPr lang="en-IN" sz="2000" dirty="0" smtClean="0">
                    <a:latin typeface="Times New Roman" pitchFamily="18" charset="0"/>
                    <a:cs typeface="Times New Roman" pitchFamily="18" charset="0"/>
                  </a:rPr>
                  <a:t>and 4.41</a:t>
                </a:r>
                <a14:m>
                  <m:oMath xmlns:m="http://schemas.openxmlformats.org/officeDocument/2006/math">
                    <m:r>
                      <a:rPr lang="en-IN" sz="2000" i="1" smtClean="0">
                        <a:latin typeface="Cambria Math"/>
                        <a:ea typeface="Cambria Math"/>
                        <a:cs typeface="Times New Roman" pitchFamily="18" charset="0"/>
                      </a:rPr>
                      <m:t>±</m:t>
                    </m:r>
                    <m:r>
                      <a:rPr lang="en-IN" sz="2000" b="0" i="1" smtClean="0">
                        <a:latin typeface="Cambria Math"/>
                        <a:ea typeface="Cambria Math"/>
                        <a:cs typeface="Times New Roman" pitchFamily="18" charset="0"/>
                      </a:rPr>
                      <m:t>0.02</m:t>
                    </m:r>
                  </m:oMath>
                </a14:m>
                <a:endParaRPr lang="en-IN" sz="2000" dirty="0" smtClean="0">
                  <a:latin typeface="Times New Roman" pitchFamily="18" charset="0"/>
                  <a:cs typeface="Times New Roman" pitchFamily="18" charset="0"/>
                </a:endParaRPr>
              </a:p>
              <a:p>
                <a:pPr algn="just"/>
                <a:endParaRPr lang="en-IN" sz="2000" dirty="0" smtClean="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solar activity during solar cycle 25 will be lower </a:t>
                </a:r>
                <a:r>
                  <a:rPr lang="en-US" sz="2000" dirty="0" smtClean="0">
                    <a:latin typeface="Times New Roman" pitchFamily="18" charset="0"/>
                    <a:cs typeface="Times New Roman" pitchFamily="18" charset="0"/>
                  </a:rPr>
                  <a:t>in comparison </a:t>
                </a:r>
                <a:r>
                  <a:rPr lang="en-US" sz="2000" dirty="0">
                    <a:latin typeface="Times New Roman" pitchFamily="18" charset="0"/>
                    <a:cs typeface="Times New Roman" pitchFamily="18" charset="0"/>
                  </a:rPr>
                  <a:t>to solar cycle 24 while the solar activity </a:t>
                </a:r>
                <a:r>
                  <a:rPr lang="en-US" sz="2000" dirty="0" smtClean="0">
                    <a:latin typeface="Times New Roman" pitchFamily="18" charset="0"/>
                    <a:cs typeface="Times New Roman" pitchFamily="18" charset="0"/>
                  </a:rPr>
                  <a:t>during solar </a:t>
                </a:r>
                <a:r>
                  <a:rPr lang="en-US" sz="2000" dirty="0">
                    <a:latin typeface="Times New Roman" pitchFamily="18" charset="0"/>
                    <a:cs typeface="Times New Roman" pitchFamily="18" charset="0"/>
                  </a:rPr>
                  <a:t>cycle 26 will be lesser in comparison to the solar </a:t>
                </a:r>
                <a:r>
                  <a:rPr lang="en-US" sz="2000" dirty="0" smtClean="0">
                    <a:latin typeface="Times New Roman" pitchFamily="18" charset="0"/>
                    <a:cs typeface="Times New Roman" pitchFamily="18" charset="0"/>
                  </a:rPr>
                  <a:t>cycle </a:t>
                </a:r>
                <a:r>
                  <a:rPr lang="en-IN" sz="2000" dirty="0" smtClean="0">
                    <a:latin typeface="Times New Roman" pitchFamily="18" charset="0"/>
                    <a:cs typeface="Times New Roman" pitchFamily="18" charset="0"/>
                  </a:rPr>
                  <a:t>25.</a:t>
                </a:r>
              </a:p>
              <a:p>
                <a:pPr algn="just"/>
                <a:endParaRPr lang="en-IN" sz="2000" dirty="0" smtClean="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After looking the solar activity pattern during our </a:t>
                </a:r>
                <a:r>
                  <a:rPr lang="en-US" sz="2000" dirty="0" smtClean="0">
                    <a:latin typeface="Times New Roman" pitchFamily="18" charset="0"/>
                    <a:cs typeface="Times New Roman" pitchFamily="18" charset="0"/>
                  </a:rPr>
                  <a:t>study </a:t>
                </a:r>
                <a:r>
                  <a:rPr lang="en-US" sz="2000" dirty="0">
                    <a:latin typeface="Times New Roman" pitchFamily="18" charset="0"/>
                    <a:cs typeface="Times New Roman" pitchFamily="18" charset="0"/>
                  </a:rPr>
                  <a:t>we have also concluded that we would be </a:t>
                </a:r>
                <a:r>
                  <a:rPr lang="en-US" sz="2000" dirty="0" smtClean="0">
                    <a:latin typeface="Times New Roman" pitchFamily="18" charset="0"/>
                    <a:cs typeface="Times New Roman" pitchFamily="18" charset="0"/>
                  </a:rPr>
                  <a:t>reaching towards another minimum by the year 2043</a:t>
                </a:r>
                <a:r>
                  <a:rPr lang="en-US" sz="2000" dirty="0" smtClean="0">
                    <a:latin typeface="Times New Roman" pitchFamily="18" charset="0"/>
                    <a:cs typeface="Times New Roman" pitchFamily="18" charset="0"/>
                  </a:rPr>
                  <a:t>.</a:t>
                </a:r>
              </a:p>
              <a:p>
                <a:pPr algn="just"/>
                <a:endParaRPr lang="en-US" sz="2000" dirty="0">
                  <a:latin typeface="Times New Roman" pitchFamily="18" charset="0"/>
                  <a:cs typeface="Times New Roman" pitchFamily="18" charset="0"/>
                </a:endParaRPr>
              </a:p>
              <a:p>
                <a:pPr algn="just"/>
                <a:r>
                  <a:rPr lang="en-US" sz="2000" dirty="0" smtClean="0">
                    <a:solidFill>
                      <a:srgbClr val="FF0000"/>
                    </a:solidFill>
                    <a:latin typeface="Times New Roman" pitchFamily="18" charset="0"/>
                    <a:cs typeface="Times New Roman" pitchFamily="18" charset="0"/>
                  </a:rPr>
                  <a:t>We have observed a decrement about </a:t>
                </a:r>
                <a:r>
                  <a:rPr lang="en-IN" sz="2000" dirty="0" smtClean="0">
                    <a:solidFill>
                      <a:srgbClr val="FF0000"/>
                    </a:solidFill>
                    <a:latin typeface="Times New Roman" pitchFamily="18" charset="0"/>
                    <a:cs typeface="Times New Roman" pitchFamily="18" charset="0"/>
                  </a:rPr>
                  <a:t>39.08%</a:t>
                </a:r>
                <a:r>
                  <a:rPr lang="en-US" sz="2000" dirty="0" smtClean="0">
                    <a:solidFill>
                      <a:srgbClr val="FF0000"/>
                    </a:solidFill>
                    <a:latin typeface="Times New Roman" pitchFamily="18" charset="0"/>
                    <a:cs typeface="Times New Roman" pitchFamily="18" charset="0"/>
                  </a:rPr>
                  <a:t/>
                </a:r>
                <a:r>
                  <a:rPr lang="en-IN" sz="2000" dirty="0" smtClean="0">
                    <a:solidFill>
                      <a:srgbClr val="FF0000"/>
                    </a:solidFill>
                    <a:latin typeface="Times New Roman" pitchFamily="18" charset="0"/>
                    <a:cs typeface="Times New Roman" pitchFamily="18" charset="0"/>
                  </a:rPr>
                  <a:t>and </a:t>
                </a:r>
                <a:r>
                  <a:rPr lang="en-IN" sz="2000" dirty="0">
                    <a:solidFill>
                      <a:srgbClr val="FF0000"/>
                    </a:solidFill>
                    <a:latin typeface="Times New Roman" pitchFamily="18" charset="0"/>
                    <a:cs typeface="Times New Roman" pitchFamily="18" charset="0"/>
                  </a:rPr>
                  <a:t>46.61</a:t>
                </a:r>
                <a:r>
                  <a:rPr lang="en-IN" sz="2000" dirty="0" smtClean="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in the amplitude of</a:t>
                </a:r>
                <a:r>
                  <a:rPr lang="en-IN" sz="2000" dirty="0" smtClean="0">
                    <a:solidFill>
                      <a:srgbClr val="FF0000"/>
                    </a:solidFill>
                    <a:latin typeface="Times New Roman" pitchFamily="18" charset="0"/>
                    <a:cs typeface="Times New Roman" pitchFamily="18" charset="0"/>
                  </a:rPr>
                  <a:t> both the cycles 25 and 26 respectively with respect to the maxima of present solar cycle 24.</a:t>
                </a:r>
                <a:endParaRPr lang="en-IN" sz="2000" dirty="0">
                  <a:latin typeface="Times New Roman" pitchFamily="18" charset="0"/>
                  <a:cs typeface="Times New Roman"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xfrm>
                <a:off x="457200" y="228600"/>
                <a:ext cx="8077200" cy="6245352"/>
              </a:xfrm>
              <a:blipFill rotWithShape="1">
                <a:blip r:embed="rId2"/>
                <a:stretch>
                  <a:fillRect l="-75" t="-488" r="-755"/>
                </a:stretch>
              </a:blipFill>
            </p:spPr>
            <p:txBody>
              <a:bodyPr/>
              <a:lstStyle/>
              <a:p>
                <a:r>
                  <a:rPr lang="en-IN">
                    <a:noFill/>
                  </a:rPr>
                  <a:t> </a:t>
                </a:r>
              </a:p>
            </p:txBody>
          </p:sp>
        </mc:Fallback>
      </mc:AlternateContent>
    </p:spTree>
    <p:extLst>
      <p:ext uri="{BB962C8B-B14F-4D97-AF65-F5344CB8AC3E}">
        <p14:creationId xmlns:p14="http://schemas.microsoft.com/office/powerpoint/2010/main" xmlns="" val="20993447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305800" cy="6169152"/>
          </a:xfrm>
        </p:spPr>
        <p:txBody>
          <a:bodyPr>
            <a:normAutofit/>
          </a:bodyPr>
          <a:lstStyle/>
          <a:p>
            <a:pPr algn="just"/>
            <a:r>
              <a:rPr lang="en-IN" sz="2000" b="1" dirty="0" err="1" smtClean="0">
                <a:latin typeface="Times New Roman" pitchFamily="18" charset="0"/>
                <a:cs typeface="Times New Roman" pitchFamily="18" charset="0"/>
              </a:rPr>
              <a:t>Hathway</a:t>
            </a:r>
            <a:r>
              <a:rPr lang="en-IN" sz="2000" b="1" dirty="0" smtClean="0">
                <a:latin typeface="Times New Roman" pitchFamily="18" charset="0"/>
                <a:cs typeface="Times New Roman" pitchFamily="18" charset="0"/>
              </a:rPr>
              <a:t> and Upton (2016)</a:t>
            </a:r>
            <a:r>
              <a:rPr lang="en-IN" sz="2000" dirty="0" smtClean="0">
                <a:latin typeface="Times New Roman" pitchFamily="18" charset="0"/>
                <a:cs typeface="Times New Roman" pitchFamily="18" charset="0"/>
              </a:rPr>
              <a:t> used </a:t>
            </a:r>
            <a:r>
              <a:rPr lang="en-IN" sz="2000" dirty="0" err="1" smtClean="0">
                <a:latin typeface="Times New Roman" pitchFamily="18" charset="0"/>
                <a:cs typeface="Times New Roman" pitchFamily="18" charset="0"/>
              </a:rPr>
              <a:t>Advective</a:t>
            </a:r>
            <a:r>
              <a:rPr lang="en-IN" sz="2000" dirty="0" smtClean="0">
                <a:latin typeface="Times New Roman" pitchFamily="18" charset="0"/>
                <a:cs typeface="Times New Roman" pitchFamily="18" charset="0"/>
              </a:rPr>
              <a:t> Flux Transport (AFT) code for the simulation of the evolution of the Sun’s polar magnetic fields from early 2016 to the end of 2019—near the expected time of cycle 24/25 minimum. This AFT code assumes that the strength of the Sun’s polar fields near the time of a sunspot cycle minimum determines the strength of the following solar activity cycle. They found that the average strength of the polar fields near the end of cycle 24 will be similar to that measured near the end of cycle 23, indicating that cycle 25 will be similar(or slightly smaller than) in strength to the current cycle. </a:t>
            </a:r>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90600" y="762000"/>
            <a:ext cx="6755984" cy="4495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0579140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984</TotalTime>
  <Words>1700</Words>
  <Application>Microsoft Office PowerPoint</Application>
  <PresentationFormat>On-screen Show (4:3)</PresentationFormat>
  <Paragraphs>101</Paragraphs>
  <Slides>28</Slides>
  <Notes>1</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Oriel</vt:lpstr>
      <vt:lpstr>Forecasting Solar Activity for Solar Cycles 25 &amp; 26 􀂱􀀃an indication for future solar minimum          Forecasting Solar Activity for Solar Cycles 25 &amp; 26 - an indication for future solar minimum</vt:lpstr>
      <vt:lpstr>OUTLINE</vt:lpstr>
      <vt:lpstr>Significance of the solar cycle</vt:lpstr>
      <vt:lpstr>Solar Activity</vt:lpstr>
      <vt:lpstr>Slide 5</vt:lpstr>
      <vt:lpstr>Forecasting the solar cycle 25 and 26</vt:lpstr>
      <vt:lpstr>Introduction</vt:lpstr>
      <vt:lpstr>Slide 8</vt:lpstr>
      <vt:lpstr>Some previous works on solar activity predictions</vt:lpstr>
      <vt:lpstr>data sources</vt:lpstr>
      <vt:lpstr>Slide 11</vt:lpstr>
      <vt:lpstr>Methodology</vt:lpstr>
      <vt:lpstr>Hodrick and Prescott filter</vt:lpstr>
      <vt:lpstr>Slide 14</vt:lpstr>
      <vt:lpstr>Slide 15</vt:lpstr>
      <vt:lpstr>the rescaled range analysis</vt:lpstr>
      <vt:lpstr>Why we calculate Hurst exponent</vt:lpstr>
      <vt:lpstr>Calculating Hurst exponent</vt:lpstr>
      <vt:lpstr>Slide 19</vt:lpstr>
      <vt:lpstr>Simplex projection Analysis</vt:lpstr>
      <vt:lpstr>Slide 21</vt:lpstr>
      <vt:lpstr>Slide 22</vt:lpstr>
      <vt:lpstr>Slide 23</vt:lpstr>
      <vt:lpstr>Slide 24</vt:lpstr>
      <vt:lpstr>Results and conclusions</vt:lpstr>
      <vt:lpstr>Slide 26</vt:lpstr>
      <vt:lpstr>Slide 27</vt:lpstr>
      <vt:lpstr>Slide 28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of declining solar activity trends during solar cycles 25 and 26 and indication of other solarminimum</dc:title>
  <dc:creator>Asheesh</dc:creator>
  <cp:lastModifiedBy>Physics</cp:lastModifiedBy>
  <cp:revision>87</cp:revision>
  <dcterms:created xsi:type="dcterms:W3CDTF">2006-08-16T00:00:00Z</dcterms:created>
  <dcterms:modified xsi:type="dcterms:W3CDTF">2019-02-12T09:05:46Z</dcterms:modified>
</cp:coreProperties>
</file>